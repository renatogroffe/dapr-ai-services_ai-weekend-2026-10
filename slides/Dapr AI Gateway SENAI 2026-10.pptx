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3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29" r:id="rId4"/>
    <p:sldMasterId id="2147484404" r:id="rId5"/>
    <p:sldMasterId id="2147484428" r:id="rId6"/>
    <p:sldMasterId id="2147484455" r:id="rId7"/>
  </p:sldMasterIdLst>
  <p:notesMasterIdLst>
    <p:notesMasterId r:id="rId28"/>
  </p:notesMasterIdLst>
  <p:handoutMasterIdLst>
    <p:handoutMasterId r:id="rId29"/>
  </p:handoutMasterIdLst>
  <p:sldIdLst>
    <p:sldId id="1393" r:id="rId8"/>
    <p:sldId id="1834" r:id="rId9"/>
    <p:sldId id="1801" r:id="rId10"/>
    <p:sldId id="1518" r:id="rId11"/>
    <p:sldId id="1824" r:id="rId12"/>
    <p:sldId id="1860" r:id="rId13"/>
    <p:sldId id="1838" r:id="rId14"/>
    <p:sldId id="1843" r:id="rId15"/>
    <p:sldId id="1849" r:id="rId16"/>
    <p:sldId id="1840" r:id="rId17"/>
    <p:sldId id="1855" r:id="rId18"/>
    <p:sldId id="1856" r:id="rId19"/>
    <p:sldId id="1857" r:id="rId20"/>
    <p:sldId id="1861" r:id="rId21"/>
    <p:sldId id="1850" r:id="rId22"/>
    <p:sldId id="1853" r:id="rId23"/>
    <p:sldId id="1851" r:id="rId24"/>
    <p:sldId id="1863" r:id="rId25"/>
    <p:sldId id="1777" r:id="rId26"/>
    <p:sldId id="1750" r:id="rId27"/>
  </p:sldIdLst>
  <p:sldSz cx="12436475" cy="6994525"/>
  <p:notesSz cx="6858000" cy="91440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gnite 2016 Template Light" id="{A073DAE3-B461-442F-A3D3-6642BD875E45}">
          <p14:sldIdLst>
            <p14:sldId id="1393"/>
            <p14:sldId id="1834"/>
            <p14:sldId id="1801"/>
            <p14:sldId id="1518"/>
            <p14:sldId id="1824"/>
            <p14:sldId id="1860"/>
            <p14:sldId id="1838"/>
            <p14:sldId id="1843"/>
            <p14:sldId id="1849"/>
            <p14:sldId id="1840"/>
            <p14:sldId id="1855"/>
            <p14:sldId id="1856"/>
            <p14:sldId id="1857"/>
            <p14:sldId id="1861"/>
            <p14:sldId id="1850"/>
            <p14:sldId id="1853"/>
            <p14:sldId id="1851"/>
            <p14:sldId id="1863"/>
            <p14:sldId id="1777"/>
          </p14:sldIdLst>
        </p14:section>
        <p14:section name="Finalizando" id="{CF622469-3E87-46BA-8ED6-912C47B00EF3}">
          <p14:sldIdLst>
            <p14:sldId id="17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03">
          <p15:clr>
            <a:srgbClr val="A4A3A4"/>
          </p15:clr>
        </p15:guide>
        <p15:guide id="2" pos="391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/>
  <p:cmAuthor id="3" name="Mary Feil-Jacobs" initials="MF" lastIdx="2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B2B2B2"/>
    <a:srgbClr val="EAEAEA"/>
    <a:srgbClr val="F8F8F8"/>
    <a:srgbClr val="FFFFCC"/>
    <a:srgbClr val="CCECFF"/>
    <a:srgbClr val="3366CC"/>
    <a:srgbClr val="008080"/>
    <a:srgbClr val="FFFBD9"/>
    <a:srgbClr val="494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58" autoAdjust="0"/>
    <p:restoredTop sz="95033" autoAdjust="0"/>
  </p:normalViewPr>
  <p:slideViewPr>
    <p:cSldViewPr>
      <p:cViewPr varScale="1">
        <p:scale>
          <a:sx n="73" d="100"/>
          <a:sy n="73" d="100"/>
        </p:scale>
        <p:origin x="43" y="101"/>
      </p:cViewPr>
      <p:guideLst>
        <p:guide orient="horz" pos="2203"/>
        <p:guide pos="39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7152"/>
    </p:cViewPr>
  </p:sorterViewPr>
  <p:notesViewPr>
    <p:cSldViewPr showGuides="1">
      <p:cViewPr varScale="1">
        <p:scale>
          <a:sx n="83" d="100"/>
          <a:sy n="83" d="100"/>
        </p:scale>
        <p:origin x="232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commentAuthors" Target="commentAuthors.xml"/><Relationship Id="rId8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>
                <a:latin typeface="Segoe UI" pitchFamily="34" charset="0"/>
              </a:rPr>
              <a:t>Microsoft Ignite 2016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D045D-9A66-44E7-900A-FC6D0BD4E54A}" type="datetime8">
              <a:rPr lang="en-US" smtClean="0">
                <a:latin typeface="Segoe UI" pitchFamily="34" charset="0"/>
              </a:rPr>
              <a:t>10/24/2026 2:24 AM</a:t>
            </a:fld>
            <a:endParaRPr lang="en-US" dirty="0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‹nº›</a:t>
            </a:fld>
            <a:endParaRPr lang="en-US" dirty="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r>
              <a:rPr lang="en-US" dirty="0"/>
              <a:t>Microsoft Ignite 2016</a:t>
            </a:r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EEC551-8CDA-4EB6-89BB-2A86C9F091C8}" type="datetime8">
              <a:rPr lang="en-US" smtClean="0"/>
              <a:t>10/24/2026 2:23 AM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10/24/2026 2:27 AM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1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263312-38AA-4E1E-B2B5-0F8F122B24F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595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F5E24-E170-7DA5-797D-63B9419A3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08E02F1-CC48-1600-13E1-EDD9512ECE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63C2294-6D00-70AB-5B32-1E9A41645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D873F75D-6A5E-02DC-69F7-F2F5E93CC81F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2D550D-90E6-9443-25A9-827E7A108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9CC0E5BB-2784-7852-29C2-8974A05C351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10/24/2026 2:28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CE9B2B-137A-FCEA-87AE-DF517B41EA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716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10/24/2026 2:34 AM</a:t>
            </a:fld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934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50E1B-9B13-AB01-EB13-9FA92E46E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64E6F95-F0F4-8AEF-81D0-C0978A51F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B74A610-C848-83D2-D843-C3A4DE52A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04D361A1-9C79-0076-B4B2-FC820A929994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001309-B3AC-9B6C-EE64-925EC2D8F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2BC5179-4CC5-B5DF-5FEE-B51ABD2BA94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10/24/2026 2:31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C7A93F-74AC-2D6E-C48F-1397AAB227D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0871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B98C0-C219-F89A-24DA-627AD5D0C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0299FAE-24C0-AF0A-2DA4-7420A359C8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0DD950A-9D5C-5F34-3ED3-3B7F04732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CD92F5E2-E46E-07F2-EEE3-2B4083316812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2385EA-A5F0-9881-47CD-23B2E0957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C26BBD42-DBFD-D4EC-922E-6EAE5BE38114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10/24/2026 2:36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ACF130-A706-AF92-B20F-E11C640C448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563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B0276-53B5-2DEF-1C35-16248925E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B7EC357-05EC-83B4-7159-32D755F1D9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AD916D8-2A56-7E5C-4D5A-E6D8F11A4B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7975DD9D-F164-DB30-3558-BE92EAFF603F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34C691-EEE2-A469-FF3A-CD3C58355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C0F53047-BC0E-D95C-5232-39726638D8EE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10/24/2026 2:23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D5FF74-C71D-953A-1A7D-D218C88284F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576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14D9C-3D3F-9995-508F-FFDD4C03F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5AF89ED-1B29-3200-7B5A-BCED3DB16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74E7CE6-F4F4-2F4E-A96F-E5331CBB33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BD1B8332-6AD4-C676-58C4-3FD101006D52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78B176-4B84-5C28-C05B-3943FA44C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14B47D30-6CE6-F515-FC6E-64A7325994AE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10/24/2026 2:23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18504A-E548-3F18-0229-49191676AFB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6289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A507A-968A-776A-62E6-F0E2CDFAC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42B6B38-4F55-236C-7B67-BC7D8FAE2A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FAA8D81-5D75-3401-5DDC-CACF1BCC43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C6766680-B7D5-71E7-97A1-E5005C1E4B54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7FD21A-080D-CC2E-6636-68DB3D6FD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E89BCA61-084E-9F5B-FB7E-A5AC5695FFC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10/24/2026 2:23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62A0FA-D07C-B823-3BFC-D37CD614923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9300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C57E0-0226-7800-D7B6-2FE4F6C4F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683692D-D820-1C43-89A4-4E97D21B44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B58BB3E-483C-C90D-271E-C65EC10CC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8A4AEED6-BD03-0BD8-34E9-40A3036259AE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69975A-E3D8-4AE3-FE43-F77E44482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C0B6B78B-5D4B-9680-982A-BDCEB35C3DDB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10/24/2026 2:23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C686F25-0C99-742C-C6D0-EC76B308F5C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0222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45E5E-BF19-6DF3-F387-2F9347ABF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CF7D763-F143-4343-C378-F314875F4F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7183ABF-13FB-E781-B926-F5267694C9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08B8C67A-1DCE-A999-30A7-D8F5F125E59B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F75B88-2788-315C-59CF-59AF63C07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E10AAB5C-143C-3702-F2FA-D5A549DE09A4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10/24/2026 2:23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0544D1E-4138-8490-2CDF-D19231ABDA5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4747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6FCAF-9840-6E35-CB47-E3E9FA13D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EE70735-986E-1636-D0D0-8B5DF0296F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C093EDF-29B5-2BB3-6809-B2533CD961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82BC8739-99FE-88DB-C5AC-2CE24CCB2088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8631B9-C759-F9EC-4ABA-8E6BC7248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9D562E0D-EBB7-7EF4-318F-F2229F70083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10/24/2026 2:23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8DFCC53-6E18-2950-667E-85E033C0CB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4481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8A391-64FE-0ADE-3E61-54BCE7FAD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975E80B-2894-30D7-BEB0-D069F9FCE2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089F161-757A-7366-70FC-777EC48C80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884D0E14-8EAF-6671-9287-52981F265CBB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2028D8-F290-08E1-50D0-9F5F88C42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1574CCD5-74BF-10BD-64DD-E6E356C67F2E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10/24/2026 2:23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871CEDB-DA85-0F69-8897-09D3819EF19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2032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50E1B-9B13-AB01-EB13-9FA92E46E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64E6F95-F0F4-8AEF-81D0-C0978A51F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B74A610-C848-83D2-D843-C3A4DE52A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04D361A1-9C79-0076-B4B2-FC820A929994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001309-B3AC-9B6C-EE64-925EC2D8F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2BC5179-4CC5-B5DF-5FEE-B51ABD2BA94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10/24/2026 2:37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C7A93F-74AC-2D6E-C48F-1397AAB227D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0871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263A9-B678-7288-CC4C-82DE40E6B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5F3DBC0-49AF-0941-1398-154D6C85E4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FC1AD51-85E0-D9E3-ABDC-BF19EF12E4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A8133190-DA42-DE5C-4D7D-FA74B6E94C46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56D9A8-6635-D24A-15F5-9E84A7092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1FB95B3E-F472-6B1B-CCD5-5A2AF320F033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10/24/2026 2:23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E41AB3-77DC-8849-8A53-6D22027AA5B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097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B6B58-AFD3-9257-84DB-532B333A7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5865452-E4E8-3FB5-8452-95876FC0F3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4FB07C0-7904-F461-6A7D-39B89A322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Cabeçalho 3">
            <a:extLst>
              <a:ext uri="{FF2B5EF4-FFF2-40B4-BE49-F238E27FC236}">
                <a16:creationId xmlns:a16="http://schemas.microsoft.com/office/drawing/2014/main" id="{871435C3-F586-EF4E-96C6-E0F11B9362E5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Microsoft Ignite 2016</a:t>
            </a:r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BBB593-13A7-F5E7-0ED8-2292F0E00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5409885E-6BED-56A2-1B41-815873431001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10/24/2026 2:37 AM</a:t>
            </a:fld>
            <a:endParaRPr lang="en-US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B126D96-4B22-0804-593E-A8B4E09099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1392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945B0-C657-9321-7E57-BD477E4D3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53FACD-0D94-4670-2924-2DBC1796E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6F8C38-6013-D37D-2823-4746C30FB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487F9B5-A75A-B5B8-310B-EB4BC76BA005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Microsoft Build 2016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1B164-3A07-7E42-8CDE-01115431A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099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0F6B981-A456-84C5-299D-B14AEF5DBD02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EC551-8CDA-4EB6-89BB-2A86C9F091C8}" type="datetime8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10/24/2026 2:44 AM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D9330E-DE58-960A-9FF7-8869241C9EC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0531169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3274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4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Microsoft Build 2016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099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EEC551-8CDA-4EB6-89BB-2A86C9F091C8}" type="datetime8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10/24/2026 2:45 AM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0158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lkin">
    <p:bg bwMode="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274638" y="2119164"/>
            <a:ext cx="6400800" cy="2749700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6501" y="1965643"/>
            <a:ext cx="7899548" cy="214884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587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gray"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274702" y="1679645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274701" y="3509753"/>
            <a:ext cx="73151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6850104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056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337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2404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032684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977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599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568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946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335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82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82295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897602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95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619">
                      <a:schemeClr val="tx1"/>
                    </a:gs>
                    <a:gs pos="2654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784147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89345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908698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5675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159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962453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69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969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9100929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88989" y="6072577"/>
            <a:ext cx="3002232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</a:t>
            </a:r>
            <a:r>
              <a:rPr lang="en-US" sz="2400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aspnetConference</a:t>
            </a: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‬</a:t>
            </a:r>
          </a:p>
        </p:txBody>
      </p:sp>
    </p:spTree>
    <p:extLst>
      <p:ext uri="{BB962C8B-B14F-4D97-AF65-F5344CB8AC3E}">
        <p14:creationId xmlns:p14="http://schemas.microsoft.com/office/powerpoint/2010/main" val="2342740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E4A19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1824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03BBCC4F-8F06-4D2A-BAEF-085061C7429D}" type="datetimeFigureOut">
              <a:rPr lang="pt-BR" smtClean="0"/>
              <a:t>24/10/2026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49129" y="6482892"/>
            <a:ext cx="3938217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2809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63E0E13C-003D-4B40-A941-409C05DCCE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76174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lkin">
    <p:bg bwMode="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274638" y="2119164"/>
            <a:ext cx="6400800" cy="2749700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6501" y="1965643"/>
            <a:ext cx="7899548" cy="214884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901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0" y="5758901"/>
            <a:ext cx="12435840" cy="1235624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398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6209084"/>
            <a:ext cx="1456418" cy="310896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274702" y="1679645"/>
            <a:ext cx="91439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274701" y="3509753"/>
            <a:ext cx="73151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37503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6178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7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51069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1250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115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819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7625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266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467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Evidence Slide">
    <p:bg bwMode="gray"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gradFill>
                  <a:gsLst>
                    <a:gs pos="18584">
                      <a:schemeClr val="tx2"/>
                    </a:gs>
                    <a:gs pos="57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Customer evidence slide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274638" y="1434069"/>
            <a:ext cx="5486400" cy="1827214"/>
          </a:xfrm>
          <a:blipFill>
            <a:blip r:embed="rId2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noFill/>
                <a:latin typeface="+mn-lt"/>
                <a:ea typeface="+mn-ea"/>
                <a:cs typeface="+mn-cs"/>
              </a:defRPr>
            </a:lvl1pPr>
            <a:lvl2pPr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6218237" y="4868863"/>
            <a:ext cx="5945966" cy="1828800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182880" tIns="146304" rIns="182880" bIns="146304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</a:endParaRP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218237" y="1434069"/>
            <a:ext cx="5943601" cy="3433208"/>
          </a:xfrm>
          <a:blipFill>
            <a:blip r:embed="rId3"/>
            <a:stretch>
              <a:fillRect/>
            </a:stretch>
          </a:blipFill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algn="ctr">
              <a:defRPr lang="en-US" sz="2400" kern="1200" spc="0" baseline="0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 dirty="0"/>
              <a:t>Your image here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5989638" y="1836883"/>
            <a:ext cx="0" cy="4754828"/>
          </a:xfrm>
          <a:prstGeom prst="line">
            <a:avLst/>
          </a:prstGeom>
          <a:ln w="3175">
            <a:solidFill>
              <a:schemeClr val="tx1">
                <a:alpha val="2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274638" y="3260725"/>
            <a:ext cx="5486400" cy="3436938"/>
          </a:xfrm>
        </p:spPr>
        <p:txBody>
          <a:bodyPr lIns="182880" tIns="146304" rIns="182880" bIns="146304">
            <a:noAutofit/>
          </a:bodyPr>
          <a:lstStyle>
            <a:lvl1pPr marL="0" indent="0">
              <a:buNone/>
              <a:defRPr sz="24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218238" y="4868863"/>
            <a:ext cx="5943600" cy="1827214"/>
          </a:xfrm>
        </p:spPr>
        <p:txBody>
          <a:bodyPr lIns="182880" tIns="146304" rIns="182880" bIns="146304" anchor="ctr">
            <a:noAutofit/>
          </a:bodyPr>
          <a:lstStyle>
            <a:lvl1pPr marL="0" indent="0" algn="ctr">
              <a:buNone/>
              <a:defRPr sz="3200">
                <a:gradFill>
                  <a:gsLst>
                    <a:gs pos="27434">
                      <a:srgbClr val="FFFFFF"/>
                    </a:gs>
                    <a:gs pos="54000">
                      <a:srgbClr val="FFFFFF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1979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292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82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82295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8850">
                      <a:schemeClr val="tx1"/>
                    </a:gs>
                    <a:gs pos="23894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662245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82295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619">
                      <a:schemeClr val="tx1"/>
                    </a:gs>
                    <a:gs pos="2654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808889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074031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32457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>
            <a:blip r:embed="rId2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309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224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7528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978516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589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769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</p:spTree>
    <p:extLst>
      <p:ext uri="{BB962C8B-B14F-4D97-AF65-F5344CB8AC3E}">
        <p14:creationId xmlns:p14="http://schemas.microsoft.com/office/powerpoint/2010/main" val="18478249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918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3277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1700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948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949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107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84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6823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5796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1436" y="2963862"/>
            <a:ext cx="10235966" cy="917575"/>
          </a:xfrm>
        </p:spPr>
        <p:txBody>
          <a:bodyPr anchor="ctr" anchorCtr="0"/>
          <a:lstStyle>
            <a:lvl1pPr algn="l"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899830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4000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24779">
                      <a:srgbClr val="000000"/>
                    </a:gs>
                    <a:gs pos="70000">
                      <a:srgbClr val="00000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91439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24779">
                      <a:srgbClr val="000000"/>
                    </a:gs>
                    <a:gs pos="70000">
                      <a:srgbClr val="000000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522793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39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431795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77793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92035">
                      <a:srgbClr val="000000"/>
                    </a:gs>
                    <a:gs pos="75000">
                      <a:srgbClr val="000000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5737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2959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892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5936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099056"/>
      </p:ext>
    </p:extLst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464013" y="479425"/>
            <a:ext cx="1436313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06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2310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1824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03BBCC4F-8F06-4D2A-BAEF-085061C7429D}" type="datetimeFigureOut">
              <a:rPr lang="pt-BR" smtClean="0"/>
              <a:t>24/10/2026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49129" y="6482892"/>
            <a:ext cx="3938217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12809" y="6482892"/>
            <a:ext cx="2901844" cy="372394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fld id="{63E0E13C-003D-4B40-A941-409C05DCCE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090993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72E4-1EB3-4AD0-8A8C-9ACF3E188437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7ADA7-AC71-4BF6-BCA0-0FC767D2894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58979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9038" y="2125663"/>
            <a:ext cx="10058399" cy="1828800"/>
          </a:xfrm>
        </p:spPr>
        <p:txBody>
          <a:bodyPr/>
          <a:lstStyle>
            <a:lvl1pPr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349299"/>
      </p:ext>
    </p:extLst>
  </p:cSld>
  <p:clrMapOvr>
    <a:masterClrMapping/>
  </p:clrMapOvr>
  <p:transition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_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189039" y="2125663"/>
            <a:ext cx="10058400" cy="912813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388474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90736"/>
            <a:ext cx="1449939" cy="306604"/>
          </a:xfrm>
          <a:prstGeom prst="rect">
            <a:avLst/>
          </a:prstGeom>
        </p:spPr>
      </p:pic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88989" y="6072577"/>
            <a:ext cx="1900200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#Build2016</a:t>
            </a:r>
          </a:p>
        </p:txBody>
      </p:sp>
    </p:spTree>
    <p:extLst>
      <p:ext uri="{BB962C8B-B14F-4D97-AF65-F5344CB8AC3E}">
        <p14:creationId xmlns:p14="http://schemas.microsoft.com/office/powerpoint/2010/main" val="31960782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u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274702" y="2125678"/>
            <a:ext cx="10058336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701" y="3955786"/>
            <a:ext cx="10058337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8504238" y="307621"/>
            <a:ext cx="3656013" cy="572464"/>
          </a:xfrm>
        </p:spPr>
        <p:txBody>
          <a:bodyPr lIns="182880" tIns="146304" rIns="182880" bIns="146304"/>
          <a:lstStyle>
            <a:lvl1pPr marL="0" indent="0" algn="r">
              <a:buNone/>
              <a:defRPr sz="2000">
                <a:latin typeface="+mn-lt"/>
              </a:defRPr>
            </a:lvl1pPr>
            <a:lvl2pPr marL="342900" indent="0">
              <a:buNone/>
              <a:defRPr sz="2000"/>
            </a:lvl2pPr>
            <a:lvl3pPr marL="571500" indent="0">
              <a:buNone/>
              <a:defRPr sz="2000"/>
            </a:lvl3pPr>
            <a:lvl4pPr marL="800100" indent="0">
              <a:buNone/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Session Code Here</a:t>
            </a:r>
          </a:p>
        </p:txBody>
      </p:sp>
      <p:sp>
        <p:nvSpPr>
          <p:cNvPr id="8" name="Freeform 7"/>
          <p:cNvSpPr>
            <a:spLocks noChangeAspect="1" noEditPoints="1"/>
          </p:cNvSpPr>
          <p:nvPr userDrawn="1"/>
        </p:nvSpPr>
        <p:spPr bwMode="black">
          <a:xfrm>
            <a:off x="457200" y="490736"/>
            <a:ext cx="1239006" cy="310896"/>
          </a:xfrm>
          <a:custGeom>
            <a:avLst/>
            <a:gdLst>
              <a:gd name="T0" fmla="*/ 336 w 2176"/>
              <a:gd name="T1" fmla="*/ 2 h 546"/>
              <a:gd name="T2" fmla="*/ 269 w 2176"/>
              <a:gd name="T3" fmla="*/ 2 h 546"/>
              <a:gd name="T4" fmla="*/ 48 w 2176"/>
              <a:gd name="T5" fmla="*/ 538 h 546"/>
              <a:gd name="T6" fmla="*/ 2128 w 2176"/>
              <a:gd name="T7" fmla="*/ 2 h 546"/>
              <a:gd name="T8" fmla="*/ 2176 w 2176"/>
              <a:gd name="T9" fmla="*/ 2 h 546"/>
              <a:gd name="T10" fmla="*/ 1049 w 2176"/>
              <a:gd name="T11" fmla="*/ 175 h 546"/>
              <a:gd name="T12" fmla="*/ 1025 w 2176"/>
              <a:gd name="T13" fmla="*/ 454 h 546"/>
              <a:gd name="T14" fmla="*/ 937 w 2176"/>
              <a:gd name="T15" fmla="*/ 473 h 546"/>
              <a:gd name="T16" fmla="*/ 892 w 2176"/>
              <a:gd name="T17" fmla="*/ 384 h 546"/>
              <a:gd name="T18" fmla="*/ 809 w 2176"/>
              <a:gd name="T19" fmla="*/ 394 h 546"/>
              <a:gd name="T20" fmla="*/ 975 w 2176"/>
              <a:gd name="T21" fmla="*/ 540 h 546"/>
              <a:gd name="T22" fmla="*/ 1048 w 2176"/>
              <a:gd name="T23" fmla="*/ 482 h 546"/>
              <a:gd name="T24" fmla="*/ 1131 w 2176"/>
              <a:gd name="T25" fmla="*/ 536 h 546"/>
              <a:gd name="T26" fmla="*/ 1293 w 2176"/>
              <a:gd name="T27" fmla="*/ 14 h 546"/>
              <a:gd name="T28" fmla="*/ 1238 w 2176"/>
              <a:gd name="T29" fmla="*/ 3 h 546"/>
              <a:gd name="T30" fmla="*/ 1207 w 2176"/>
              <a:gd name="T31" fmla="*/ 48 h 546"/>
              <a:gd name="T32" fmla="*/ 1237 w 2176"/>
              <a:gd name="T33" fmla="*/ 91 h 546"/>
              <a:gd name="T34" fmla="*/ 1293 w 2176"/>
              <a:gd name="T35" fmla="*/ 81 h 546"/>
              <a:gd name="T36" fmla="*/ 1216 w 2176"/>
              <a:gd name="T37" fmla="*/ 536 h 546"/>
              <a:gd name="T38" fmla="*/ 1216 w 2176"/>
              <a:gd name="T39" fmla="*/ 175 h 546"/>
              <a:gd name="T40" fmla="*/ 1457 w 2176"/>
              <a:gd name="T41" fmla="*/ 536 h 546"/>
              <a:gd name="T42" fmla="*/ 1376 w 2176"/>
              <a:gd name="T43" fmla="*/ 536 h 546"/>
              <a:gd name="T44" fmla="*/ 729 w 2176"/>
              <a:gd name="T45" fmla="*/ 213 h 546"/>
              <a:gd name="T46" fmla="*/ 573 w 2176"/>
              <a:gd name="T47" fmla="*/ 163 h 546"/>
              <a:gd name="T48" fmla="*/ 491 w 2176"/>
              <a:gd name="T49" fmla="*/ 226 h 546"/>
              <a:gd name="T50" fmla="*/ 460 w 2176"/>
              <a:gd name="T51" fmla="*/ 2 h 546"/>
              <a:gd name="T52" fmla="*/ 489 w 2176"/>
              <a:gd name="T53" fmla="*/ 537 h 546"/>
              <a:gd name="T54" fmla="*/ 509 w 2176"/>
              <a:gd name="T55" fmla="*/ 512 h 546"/>
              <a:gd name="T56" fmla="*/ 596 w 2176"/>
              <a:gd name="T57" fmla="*/ 546 h 546"/>
              <a:gd name="T58" fmla="*/ 754 w 2176"/>
              <a:gd name="T59" fmla="*/ 423 h 546"/>
              <a:gd name="T60" fmla="*/ 671 w 2176"/>
              <a:gd name="T61" fmla="*/ 400 h 546"/>
              <a:gd name="T62" fmla="*/ 578 w 2176"/>
              <a:gd name="T63" fmla="*/ 478 h 546"/>
              <a:gd name="T64" fmla="*/ 495 w 2176"/>
              <a:gd name="T65" fmla="*/ 421 h 546"/>
              <a:gd name="T66" fmla="*/ 496 w 2176"/>
              <a:gd name="T67" fmla="*/ 291 h 546"/>
              <a:gd name="T68" fmla="*/ 586 w 2176"/>
              <a:gd name="T69" fmla="*/ 226 h 546"/>
              <a:gd name="T70" fmla="*/ 672 w 2176"/>
              <a:gd name="T71" fmla="*/ 293 h 546"/>
              <a:gd name="T72" fmla="*/ 1866 w 2176"/>
              <a:gd name="T73" fmla="*/ 2 h 546"/>
              <a:gd name="T74" fmla="*/ 1783 w 2176"/>
              <a:gd name="T75" fmla="*/ 220 h 546"/>
              <a:gd name="T76" fmla="*/ 1716 w 2176"/>
              <a:gd name="T77" fmla="*/ 171 h 546"/>
              <a:gd name="T78" fmla="*/ 1561 w 2176"/>
              <a:gd name="T79" fmla="*/ 220 h 546"/>
              <a:gd name="T80" fmla="*/ 1526 w 2176"/>
              <a:gd name="T81" fmla="*/ 443 h 546"/>
              <a:gd name="T82" fmla="*/ 1665 w 2176"/>
              <a:gd name="T83" fmla="*/ 546 h 546"/>
              <a:gd name="T84" fmla="*/ 1763 w 2176"/>
              <a:gd name="T85" fmla="*/ 507 h 546"/>
              <a:gd name="T86" fmla="*/ 1785 w 2176"/>
              <a:gd name="T87" fmla="*/ 537 h 546"/>
              <a:gd name="T88" fmla="*/ 1778 w 2176"/>
              <a:gd name="T89" fmla="*/ 413 h 546"/>
              <a:gd name="T90" fmla="*/ 1692 w 2176"/>
              <a:gd name="T91" fmla="*/ 479 h 546"/>
              <a:gd name="T92" fmla="*/ 1607 w 2176"/>
              <a:gd name="T93" fmla="*/ 414 h 546"/>
              <a:gd name="T94" fmla="*/ 1624 w 2176"/>
              <a:gd name="T95" fmla="*/ 269 h 546"/>
              <a:gd name="T96" fmla="*/ 1732 w 2176"/>
              <a:gd name="T97" fmla="*/ 241 h 546"/>
              <a:gd name="T98" fmla="*/ 1786 w 2176"/>
              <a:gd name="T99" fmla="*/ 326 h 5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176" h="546">
                <a:moveTo>
                  <a:pt x="163" y="538"/>
                </a:moveTo>
                <a:cubicBezTo>
                  <a:pt x="116" y="538"/>
                  <a:pt x="116" y="538"/>
                  <a:pt x="116" y="538"/>
                </a:cubicBezTo>
                <a:cubicBezTo>
                  <a:pt x="336" y="2"/>
                  <a:pt x="336" y="2"/>
                  <a:pt x="336" y="2"/>
                </a:cubicBezTo>
                <a:cubicBezTo>
                  <a:pt x="384" y="2"/>
                  <a:pt x="384" y="2"/>
                  <a:pt x="384" y="2"/>
                </a:cubicBezTo>
                <a:lnTo>
                  <a:pt x="163" y="538"/>
                </a:lnTo>
                <a:close/>
                <a:moveTo>
                  <a:pt x="269" y="2"/>
                </a:moveTo>
                <a:cubicBezTo>
                  <a:pt x="221" y="2"/>
                  <a:pt x="221" y="2"/>
                  <a:pt x="221" y="2"/>
                </a:cubicBezTo>
                <a:cubicBezTo>
                  <a:pt x="0" y="538"/>
                  <a:pt x="0" y="538"/>
                  <a:pt x="0" y="538"/>
                </a:cubicBezTo>
                <a:cubicBezTo>
                  <a:pt x="48" y="538"/>
                  <a:pt x="48" y="538"/>
                  <a:pt x="48" y="538"/>
                </a:cubicBezTo>
                <a:lnTo>
                  <a:pt x="269" y="2"/>
                </a:lnTo>
                <a:close/>
                <a:moveTo>
                  <a:pt x="2176" y="2"/>
                </a:moveTo>
                <a:cubicBezTo>
                  <a:pt x="2128" y="2"/>
                  <a:pt x="2128" y="2"/>
                  <a:pt x="2128" y="2"/>
                </a:cubicBezTo>
                <a:cubicBezTo>
                  <a:pt x="1908" y="538"/>
                  <a:pt x="1908" y="538"/>
                  <a:pt x="1908" y="538"/>
                </a:cubicBezTo>
                <a:cubicBezTo>
                  <a:pt x="1955" y="538"/>
                  <a:pt x="1955" y="538"/>
                  <a:pt x="1955" y="538"/>
                </a:cubicBezTo>
                <a:lnTo>
                  <a:pt x="2176" y="2"/>
                </a:lnTo>
                <a:close/>
                <a:moveTo>
                  <a:pt x="1131" y="536"/>
                </a:moveTo>
                <a:cubicBezTo>
                  <a:pt x="1131" y="175"/>
                  <a:pt x="1131" y="175"/>
                  <a:pt x="1131" y="175"/>
                </a:cubicBezTo>
                <a:cubicBezTo>
                  <a:pt x="1049" y="175"/>
                  <a:pt x="1049" y="175"/>
                  <a:pt x="1049" y="175"/>
                </a:cubicBezTo>
                <a:cubicBezTo>
                  <a:pt x="1049" y="384"/>
                  <a:pt x="1049" y="384"/>
                  <a:pt x="1049" y="384"/>
                </a:cubicBezTo>
                <a:cubicBezTo>
                  <a:pt x="1049" y="399"/>
                  <a:pt x="1047" y="412"/>
                  <a:pt x="1042" y="424"/>
                </a:cubicBezTo>
                <a:cubicBezTo>
                  <a:pt x="1038" y="436"/>
                  <a:pt x="1032" y="446"/>
                  <a:pt x="1025" y="454"/>
                </a:cubicBezTo>
                <a:cubicBezTo>
                  <a:pt x="1017" y="462"/>
                  <a:pt x="1009" y="468"/>
                  <a:pt x="999" y="472"/>
                </a:cubicBezTo>
                <a:cubicBezTo>
                  <a:pt x="989" y="476"/>
                  <a:pt x="978" y="478"/>
                  <a:pt x="967" y="478"/>
                </a:cubicBezTo>
                <a:cubicBezTo>
                  <a:pt x="956" y="478"/>
                  <a:pt x="946" y="476"/>
                  <a:pt x="937" y="473"/>
                </a:cubicBezTo>
                <a:cubicBezTo>
                  <a:pt x="927" y="470"/>
                  <a:pt x="920" y="464"/>
                  <a:pt x="913" y="457"/>
                </a:cubicBezTo>
                <a:cubicBezTo>
                  <a:pt x="906" y="449"/>
                  <a:pt x="901" y="440"/>
                  <a:pt x="897" y="428"/>
                </a:cubicBezTo>
                <a:cubicBezTo>
                  <a:pt x="894" y="416"/>
                  <a:pt x="892" y="401"/>
                  <a:pt x="892" y="384"/>
                </a:cubicBezTo>
                <a:cubicBezTo>
                  <a:pt x="892" y="175"/>
                  <a:pt x="892" y="175"/>
                  <a:pt x="892" y="175"/>
                </a:cubicBezTo>
                <a:cubicBezTo>
                  <a:pt x="809" y="175"/>
                  <a:pt x="809" y="175"/>
                  <a:pt x="809" y="175"/>
                </a:cubicBezTo>
                <a:cubicBezTo>
                  <a:pt x="809" y="394"/>
                  <a:pt x="809" y="394"/>
                  <a:pt x="809" y="394"/>
                </a:cubicBezTo>
                <a:cubicBezTo>
                  <a:pt x="809" y="444"/>
                  <a:pt x="821" y="482"/>
                  <a:pt x="843" y="507"/>
                </a:cubicBezTo>
                <a:cubicBezTo>
                  <a:pt x="865" y="532"/>
                  <a:pt x="897" y="545"/>
                  <a:pt x="939" y="545"/>
                </a:cubicBezTo>
                <a:cubicBezTo>
                  <a:pt x="951" y="545"/>
                  <a:pt x="963" y="543"/>
                  <a:pt x="975" y="540"/>
                </a:cubicBezTo>
                <a:cubicBezTo>
                  <a:pt x="986" y="537"/>
                  <a:pt x="996" y="532"/>
                  <a:pt x="1005" y="526"/>
                </a:cubicBezTo>
                <a:cubicBezTo>
                  <a:pt x="1014" y="521"/>
                  <a:pt x="1022" y="514"/>
                  <a:pt x="1029" y="506"/>
                </a:cubicBezTo>
                <a:cubicBezTo>
                  <a:pt x="1037" y="499"/>
                  <a:pt x="1043" y="490"/>
                  <a:pt x="1048" y="482"/>
                </a:cubicBezTo>
                <a:cubicBezTo>
                  <a:pt x="1049" y="482"/>
                  <a:pt x="1049" y="482"/>
                  <a:pt x="1049" y="482"/>
                </a:cubicBezTo>
                <a:cubicBezTo>
                  <a:pt x="1049" y="536"/>
                  <a:pt x="1049" y="536"/>
                  <a:pt x="1049" y="536"/>
                </a:cubicBezTo>
                <a:lnTo>
                  <a:pt x="1131" y="536"/>
                </a:lnTo>
                <a:close/>
                <a:moveTo>
                  <a:pt x="1307" y="48"/>
                </a:moveTo>
                <a:cubicBezTo>
                  <a:pt x="1307" y="41"/>
                  <a:pt x="1306" y="35"/>
                  <a:pt x="1303" y="29"/>
                </a:cubicBezTo>
                <a:cubicBezTo>
                  <a:pt x="1301" y="23"/>
                  <a:pt x="1297" y="18"/>
                  <a:pt x="1293" y="14"/>
                </a:cubicBezTo>
                <a:cubicBezTo>
                  <a:pt x="1288" y="9"/>
                  <a:pt x="1283" y="6"/>
                  <a:pt x="1277" y="3"/>
                </a:cubicBezTo>
                <a:cubicBezTo>
                  <a:pt x="1271" y="1"/>
                  <a:pt x="1264" y="0"/>
                  <a:pt x="1257" y="0"/>
                </a:cubicBezTo>
                <a:cubicBezTo>
                  <a:pt x="1250" y="0"/>
                  <a:pt x="1244" y="1"/>
                  <a:pt x="1238" y="3"/>
                </a:cubicBezTo>
                <a:cubicBezTo>
                  <a:pt x="1232" y="6"/>
                  <a:pt x="1226" y="9"/>
                  <a:pt x="1222" y="13"/>
                </a:cubicBezTo>
                <a:cubicBezTo>
                  <a:pt x="1217" y="18"/>
                  <a:pt x="1214" y="23"/>
                  <a:pt x="1211" y="29"/>
                </a:cubicBezTo>
                <a:cubicBezTo>
                  <a:pt x="1209" y="34"/>
                  <a:pt x="1207" y="41"/>
                  <a:pt x="1207" y="48"/>
                </a:cubicBezTo>
                <a:cubicBezTo>
                  <a:pt x="1207" y="54"/>
                  <a:pt x="1209" y="60"/>
                  <a:pt x="1211" y="66"/>
                </a:cubicBezTo>
                <a:cubicBezTo>
                  <a:pt x="1214" y="72"/>
                  <a:pt x="1217" y="77"/>
                  <a:pt x="1221" y="81"/>
                </a:cubicBezTo>
                <a:cubicBezTo>
                  <a:pt x="1226" y="85"/>
                  <a:pt x="1231" y="88"/>
                  <a:pt x="1237" y="91"/>
                </a:cubicBezTo>
                <a:cubicBezTo>
                  <a:pt x="1243" y="93"/>
                  <a:pt x="1250" y="95"/>
                  <a:pt x="1257" y="95"/>
                </a:cubicBezTo>
                <a:cubicBezTo>
                  <a:pt x="1264" y="95"/>
                  <a:pt x="1271" y="93"/>
                  <a:pt x="1277" y="91"/>
                </a:cubicBezTo>
                <a:cubicBezTo>
                  <a:pt x="1283" y="88"/>
                  <a:pt x="1289" y="85"/>
                  <a:pt x="1293" y="81"/>
                </a:cubicBezTo>
                <a:cubicBezTo>
                  <a:pt x="1297" y="77"/>
                  <a:pt x="1301" y="72"/>
                  <a:pt x="1303" y="66"/>
                </a:cubicBezTo>
                <a:cubicBezTo>
                  <a:pt x="1306" y="60"/>
                  <a:pt x="1307" y="54"/>
                  <a:pt x="1307" y="48"/>
                </a:cubicBezTo>
                <a:moveTo>
                  <a:pt x="1216" y="536"/>
                </a:moveTo>
                <a:cubicBezTo>
                  <a:pt x="1297" y="536"/>
                  <a:pt x="1297" y="536"/>
                  <a:pt x="1297" y="536"/>
                </a:cubicBezTo>
                <a:cubicBezTo>
                  <a:pt x="1297" y="175"/>
                  <a:pt x="1297" y="175"/>
                  <a:pt x="1297" y="175"/>
                </a:cubicBezTo>
                <a:cubicBezTo>
                  <a:pt x="1216" y="175"/>
                  <a:pt x="1216" y="175"/>
                  <a:pt x="1216" y="175"/>
                </a:cubicBezTo>
                <a:lnTo>
                  <a:pt x="1216" y="536"/>
                </a:lnTo>
                <a:close/>
                <a:moveTo>
                  <a:pt x="1376" y="536"/>
                </a:moveTo>
                <a:cubicBezTo>
                  <a:pt x="1457" y="536"/>
                  <a:pt x="1457" y="536"/>
                  <a:pt x="1457" y="536"/>
                </a:cubicBezTo>
                <a:cubicBezTo>
                  <a:pt x="1457" y="2"/>
                  <a:pt x="1457" y="2"/>
                  <a:pt x="1457" y="2"/>
                </a:cubicBezTo>
                <a:cubicBezTo>
                  <a:pt x="1376" y="2"/>
                  <a:pt x="1376" y="2"/>
                  <a:pt x="1376" y="2"/>
                </a:cubicBezTo>
                <a:lnTo>
                  <a:pt x="1376" y="536"/>
                </a:lnTo>
                <a:close/>
                <a:moveTo>
                  <a:pt x="765" y="342"/>
                </a:moveTo>
                <a:cubicBezTo>
                  <a:pt x="765" y="317"/>
                  <a:pt x="762" y="294"/>
                  <a:pt x="756" y="272"/>
                </a:cubicBezTo>
                <a:cubicBezTo>
                  <a:pt x="750" y="249"/>
                  <a:pt x="741" y="230"/>
                  <a:pt x="729" y="213"/>
                </a:cubicBezTo>
                <a:cubicBezTo>
                  <a:pt x="717" y="196"/>
                  <a:pt x="701" y="183"/>
                  <a:pt x="682" y="173"/>
                </a:cubicBezTo>
                <a:cubicBezTo>
                  <a:pt x="663" y="163"/>
                  <a:pt x="640" y="158"/>
                  <a:pt x="613" y="158"/>
                </a:cubicBezTo>
                <a:cubicBezTo>
                  <a:pt x="599" y="158"/>
                  <a:pt x="585" y="160"/>
                  <a:pt x="573" y="163"/>
                </a:cubicBezTo>
                <a:cubicBezTo>
                  <a:pt x="561" y="166"/>
                  <a:pt x="549" y="171"/>
                  <a:pt x="539" y="177"/>
                </a:cubicBezTo>
                <a:cubicBezTo>
                  <a:pt x="529" y="183"/>
                  <a:pt x="520" y="190"/>
                  <a:pt x="512" y="199"/>
                </a:cubicBezTo>
                <a:cubicBezTo>
                  <a:pt x="504" y="207"/>
                  <a:pt x="497" y="216"/>
                  <a:pt x="491" y="226"/>
                </a:cubicBezTo>
                <a:cubicBezTo>
                  <a:pt x="489" y="226"/>
                  <a:pt x="489" y="226"/>
                  <a:pt x="489" y="226"/>
                </a:cubicBezTo>
                <a:cubicBezTo>
                  <a:pt x="489" y="2"/>
                  <a:pt x="489" y="2"/>
                  <a:pt x="489" y="2"/>
                </a:cubicBezTo>
                <a:cubicBezTo>
                  <a:pt x="460" y="2"/>
                  <a:pt x="460" y="2"/>
                  <a:pt x="460" y="2"/>
                </a:cubicBezTo>
                <a:cubicBezTo>
                  <a:pt x="406" y="133"/>
                  <a:pt x="406" y="133"/>
                  <a:pt x="406" y="133"/>
                </a:cubicBezTo>
                <a:cubicBezTo>
                  <a:pt x="406" y="537"/>
                  <a:pt x="406" y="537"/>
                  <a:pt x="406" y="537"/>
                </a:cubicBezTo>
                <a:cubicBezTo>
                  <a:pt x="489" y="537"/>
                  <a:pt x="489" y="537"/>
                  <a:pt x="489" y="537"/>
                </a:cubicBezTo>
                <a:cubicBezTo>
                  <a:pt x="489" y="490"/>
                  <a:pt x="489" y="490"/>
                  <a:pt x="489" y="490"/>
                </a:cubicBezTo>
                <a:cubicBezTo>
                  <a:pt x="491" y="490"/>
                  <a:pt x="491" y="490"/>
                  <a:pt x="491" y="490"/>
                </a:cubicBezTo>
                <a:cubicBezTo>
                  <a:pt x="496" y="498"/>
                  <a:pt x="502" y="505"/>
                  <a:pt x="509" y="512"/>
                </a:cubicBezTo>
                <a:cubicBezTo>
                  <a:pt x="515" y="519"/>
                  <a:pt x="523" y="525"/>
                  <a:pt x="532" y="530"/>
                </a:cubicBezTo>
                <a:cubicBezTo>
                  <a:pt x="540" y="535"/>
                  <a:pt x="550" y="539"/>
                  <a:pt x="561" y="542"/>
                </a:cubicBezTo>
                <a:cubicBezTo>
                  <a:pt x="571" y="544"/>
                  <a:pt x="583" y="546"/>
                  <a:pt x="596" y="546"/>
                </a:cubicBezTo>
                <a:cubicBezTo>
                  <a:pt x="623" y="546"/>
                  <a:pt x="647" y="541"/>
                  <a:pt x="668" y="530"/>
                </a:cubicBezTo>
                <a:cubicBezTo>
                  <a:pt x="689" y="520"/>
                  <a:pt x="707" y="506"/>
                  <a:pt x="721" y="488"/>
                </a:cubicBezTo>
                <a:cubicBezTo>
                  <a:pt x="736" y="470"/>
                  <a:pt x="747" y="448"/>
                  <a:pt x="754" y="423"/>
                </a:cubicBezTo>
                <a:cubicBezTo>
                  <a:pt x="761" y="398"/>
                  <a:pt x="765" y="371"/>
                  <a:pt x="765" y="342"/>
                </a:cubicBezTo>
                <a:moveTo>
                  <a:pt x="678" y="341"/>
                </a:moveTo>
                <a:cubicBezTo>
                  <a:pt x="678" y="363"/>
                  <a:pt x="676" y="383"/>
                  <a:pt x="671" y="400"/>
                </a:cubicBezTo>
                <a:cubicBezTo>
                  <a:pt x="667" y="418"/>
                  <a:pt x="660" y="432"/>
                  <a:pt x="651" y="443"/>
                </a:cubicBezTo>
                <a:cubicBezTo>
                  <a:pt x="643" y="455"/>
                  <a:pt x="632" y="463"/>
                  <a:pt x="620" y="469"/>
                </a:cubicBezTo>
                <a:cubicBezTo>
                  <a:pt x="607" y="475"/>
                  <a:pt x="593" y="478"/>
                  <a:pt x="578" y="478"/>
                </a:cubicBezTo>
                <a:cubicBezTo>
                  <a:pt x="565" y="478"/>
                  <a:pt x="553" y="475"/>
                  <a:pt x="542" y="470"/>
                </a:cubicBezTo>
                <a:cubicBezTo>
                  <a:pt x="531" y="466"/>
                  <a:pt x="522" y="459"/>
                  <a:pt x="514" y="450"/>
                </a:cubicBezTo>
                <a:cubicBezTo>
                  <a:pt x="506" y="442"/>
                  <a:pt x="500" y="432"/>
                  <a:pt x="495" y="421"/>
                </a:cubicBezTo>
                <a:cubicBezTo>
                  <a:pt x="491" y="410"/>
                  <a:pt x="488" y="397"/>
                  <a:pt x="488" y="384"/>
                </a:cubicBezTo>
                <a:cubicBezTo>
                  <a:pt x="488" y="336"/>
                  <a:pt x="488" y="336"/>
                  <a:pt x="488" y="336"/>
                </a:cubicBezTo>
                <a:cubicBezTo>
                  <a:pt x="488" y="319"/>
                  <a:pt x="491" y="304"/>
                  <a:pt x="496" y="291"/>
                </a:cubicBezTo>
                <a:cubicBezTo>
                  <a:pt x="500" y="278"/>
                  <a:pt x="507" y="266"/>
                  <a:pt x="516" y="257"/>
                </a:cubicBezTo>
                <a:cubicBezTo>
                  <a:pt x="524" y="247"/>
                  <a:pt x="534" y="240"/>
                  <a:pt x="546" y="234"/>
                </a:cubicBezTo>
                <a:cubicBezTo>
                  <a:pt x="558" y="229"/>
                  <a:pt x="571" y="226"/>
                  <a:pt x="586" y="226"/>
                </a:cubicBezTo>
                <a:cubicBezTo>
                  <a:pt x="601" y="226"/>
                  <a:pt x="614" y="229"/>
                  <a:pt x="625" y="234"/>
                </a:cubicBezTo>
                <a:cubicBezTo>
                  <a:pt x="636" y="240"/>
                  <a:pt x="646" y="247"/>
                  <a:pt x="654" y="257"/>
                </a:cubicBezTo>
                <a:cubicBezTo>
                  <a:pt x="662" y="267"/>
                  <a:pt x="668" y="279"/>
                  <a:pt x="672" y="293"/>
                </a:cubicBezTo>
                <a:cubicBezTo>
                  <a:pt x="676" y="307"/>
                  <a:pt x="678" y="323"/>
                  <a:pt x="678" y="341"/>
                </a:cubicBezTo>
                <a:moveTo>
                  <a:pt x="1866" y="537"/>
                </a:moveTo>
                <a:cubicBezTo>
                  <a:pt x="1866" y="2"/>
                  <a:pt x="1866" y="2"/>
                  <a:pt x="1866" y="2"/>
                </a:cubicBezTo>
                <a:cubicBezTo>
                  <a:pt x="1785" y="2"/>
                  <a:pt x="1785" y="2"/>
                  <a:pt x="1785" y="2"/>
                </a:cubicBezTo>
                <a:cubicBezTo>
                  <a:pt x="1785" y="220"/>
                  <a:pt x="1785" y="220"/>
                  <a:pt x="1785" y="220"/>
                </a:cubicBezTo>
                <a:cubicBezTo>
                  <a:pt x="1783" y="220"/>
                  <a:pt x="1783" y="220"/>
                  <a:pt x="1783" y="220"/>
                </a:cubicBezTo>
                <a:cubicBezTo>
                  <a:pt x="1779" y="213"/>
                  <a:pt x="1773" y="206"/>
                  <a:pt x="1767" y="199"/>
                </a:cubicBezTo>
                <a:cubicBezTo>
                  <a:pt x="1760" y="192"/>
                  <a:pt x="1753" y="187"/>
                  <a:pt x="1744" y="182"/>
                </a:cubicBezTo>
                <a:cubicBezTo>
                  <a:pt x="1736" y="177"/>
                  <a:pt x="1726" y="173"/>
                  <a:pt x="1716" y="171"/>
                </a:cubicBezTo>
                <a:cubicBezTo>
                  <a:pt x="1705" y="168"/>
                  <a:pt x="1693" y="167"/>
                  <a:pt x="1681" y="167"/>
                </a:cubicBezTo>
                <a:cubicBezTo>
                  <a:pt x="1656" y="167"/>
                  <a:pt x="1633" y="171"/>
                  <a:pt x="1613" y="181"/>
                </a:cubicBezTo>
                <a:cubicBezTo>
                  <a:pt x="1592" y="190"/>
                  <a:pt x="1575" y="203"/>
                  <a:pt x="1561" y="220"/>
                </a:cubicBezTo>
                <a:cubicBezTo>
                  <a:pt x="1546" y="238"/>
                  <a:pt x="1535" y="259"/>
                  <a:pt x="1527" y="283"/>
                </a:cubicBezTo>
                <a:cubicBezTo>
                  <a:pt x="1519" y="308"/>
                  <a:pt x="1515" y="335"/>
                  <a:pt x="1515" y="365"/>
                </a:cubicBezTo>
                <a:cubicBezTo>
                  <a:pt x="1515" y="394"/>
                  <a:pt x="1519" y="420"/>
                  <a:pt x="1526" y="443"/>
                </a:cubicBezTo>
                <a:cubicBezTo>
                  <a:pt x="1534" y="465"/>
                  <a:pt x="1544" y="484"/>
                  <a:pt x="1558" y="500"/>
                </a:cubicBezTo>
                <a:cubicBezTo>
                  <a:pt x="1571" y="515"/>
                  <a:pt x="1587" y="526"/>
                  <a:pt x="1605" y="534"/>
                </a:cubicBezTo>
                <a:cubicBezTo>
                  <a:pt x="1624" y="542"/>
                  <a:pt x="1643" y="546"/>
                  <a:pt x="1665" y="546"/>
                </a:cubicBezTo>
                <a:cubicBezTo>
                  <a:pt x="1679" y="546"/>
                  <a:pt x="1693" y="544"/>
                  <a:pt x="1705" y="541"/>
                </a:cubicBezTo>
                <a:cubicBezTo>
                  <a:pt x="1717" y="538"/>
                  <a:pt x="1728" y="533"/>
                  <a:pt x="1737" y="528"/>
                </a:cubicBezTo>
                <a:cubicBezTo>
                  <a:pt x="1747" y="522"/>
                  <a:pt x="1756" y="515"/>
                  <a:pt x="1763" y="507"/>
                </a:cubicBezTo>
                <a:cubicBezTo>
                  <a:pt x="1771" y="499"/>
                  <a:pt x="1778" y="490"/>
                  <a:pt x="1783" y="480"/>
                </a:cubicBezTo>
                <a:cubicBezTo>
                  <a:pt x="1785" y="480"/>
                  <a:pt x="1785" y="480"/>
                  <a:pt x="1785" y="480"/>
                </a:cubicBezTo>
                <a:cubicBezTo>
                  <a:pt x="1785" y="537"/>
                  <a:pt x="1785" y="537"/>
                  <a:pt x="1785" y="537"/>
                </a:cubicBezTo>
                <a:lnTo>
                  <a:pt x="1866" y="537"/>
                </a:lnTo>
                <a:close/>
                <a:moveTo>
                  <a:pt x="1786" y="366"/>
                </a:moveTo>
                <a:cubicBezTo>
                  <a:pt x="1786" y="384"/>
                  <a:pt x="1783" y="399"/>
                  <a:pt x="1778" y="413"/>
                </a:cubicBezTo>
                <a:cubicBezTo>
                  <a:pt x="1773" y="427"/>
                  <a:pt x="1767" y="439"/>
                  <a:pt x="1758" y="449"/>
                </a:cubicBezTo>
                <a:cubicBezTo>
                  <a:pt x="1750" y="458"/>
                  <a:pt x="1740" y="466"/>
                  <a:pt x="1728" y="471"/>
                </a:cubicBezTo>
                <a:cubicBezTo>
                  <a:pt x="1717" y="476"/>
                  <a:pt x="1705" y="479"/>
                  <a:pt x="1692" y="479"/>
                </a:cubicBezTo>
                <a:cubicBezTo>
                  <a:pt x="1679" y="479"/>
                  <a:pt x="1667" y="477"/>
                  <a:pt x="1656" y="472"/>
                </a:cubicBezTo>
                <a:cubicBezTo>
                  <a:pt x="1644" y="467"/>
                  <a:pt x="1635" y="460"/>
                  <a:pt x="1626" y="450"/>
                </a:cubicBezTo>
                <a:cubicBezTo>
                  <a:pt x="1618" y="440"/>
                  <a:pt x="1612" y="428"/>
                  <a:pt x="1607" y="414"/>
                </a:cubicBezTo>
                <a:cubicBezTo>
                  <a:pt x="1602" y="399"/>
                  <a:pt x="1600" y="382"/>
                  <a:pt x="1600" y="363"/>
                </a:cubicBezTo>
                <a:cubicBezTo>
                  <a:pt x="1600" y="343"/>
                  <a:pt x="1602" y="325"/>
                  <a:pt x="1606" y="309"/>
                </a:cubicBezTo>
                <a:cubicBezTo>
                  <a:pt x="1610" y="294"/>
                  <a:pt x="1616" y="280"/>
                  <a:pt x="1624" y="269"/>
                </a:cubicBezTo>
                <a:cubicBezTo>
                  <a:pt x="1632" y="257"/>
                  <a:pt x="1642" y="249"/>
                  <a:pt x="1654" y="242"/>
                </a:cubicBezTo>
                <a:cubicBezTo>
                  <a:pt x="1667" y="236"/>
                  <a:pt x="1681" y="233"/>
                  <a:pt x="1697" y="233"/>
                </a:cubicBezTo>
                <a:cubicBezTo>
                  <a:pt x="1709" y="233"/>
                  <a:pt x="1721" y="236"/>
                  <a:pt x="1732" y="241"/>
                </a:cubicBezTo>
                <a:cubicBezTo>
                  <a:pt x="1743" y="245"/>
                  <a:pt x="1752" y="252"/>
                  <a:pt x="1760" y="260"/>
                </a:cubicBezTo>
                <a:cubicBezTo>
                  <a:pt x="1768" y="269"/>
                  <a:pt x="1774" y="279"/>
                  <a:pt x="1779" y="290"/>
                </a:cubicBezTo>
                <a:cubicBezTo>
                  <a:pt x="1783" y="301"/>
                  <a:pt x="1786" y="313"/>
                  <a:pt x="1786" y="326"/>
                </a:cubicBezTo>
                <a:lnTo>
                  <a:pt x="1786" y="36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404040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288989" y="6072577"/>
            <a:ext cx="1900200" cy="627864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#Build2016</a:t>
            </a:r>
          </a:p>
        </p:txBody>
      </p:sp>
    </p:spTree>
    <p:extLst>
      <p:ext uri="{BB962C8B-B14F-4D97-AF65-F5344CB8AC3E}">
        <p14:creationId xmlns:p14="http://schemas.microsoft.com/office/powerpoint/2010/main" val="712663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6518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4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4371038"/>
      </p:ext>
    </p:extLst>
  </p:cSld>
  <p:clrMapOvr>
    <a:masterClrMapping/>
  </p:clrMapOvr>
  <p:transition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4141863"/>
      </p:ext>
    </p:extLst>
  </p:cSld>
  <p:clrMapOvr>
    <a:masterClrMapping/>
  </p:clrMapOvr>
  <p:transition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8208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4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8208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4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9870677"/>
      </p:ext>
    </p:extLst>
  </p:cSld>
  <p:clrMapOvr>
    <a:masterClrMapping/>
  </p:clrMapOvr>
  <p:transition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0772207"/>
      </p:ext>
    </p:extLst>
  </p:cSld>
  <p:clrMapOvr>
    <a:masterClrMapping/>
  </p:clrMapOvr>
  <p:transition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22742498"/>
      </p:ext>
    </p:extLst>
  </p:cSld>
  <p:clrMapOvr>
    <a:masterClrMapping/>
  </p:clrMapOvr>
  <p:transition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1436" y="2963862"/>
            <a:ext cx="10235966" cy="917575"/>
          </a:xfrm>
        </p:spPr>
        <p:txBody>
          <a:bodyPr anchor="ctr" anchorCtr="0"/>
          <a:lstStyle>
            <a:lvl1pPr algn="l"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8247077"/>
      </p:ext>
    </p:extLst>
  </p:cSld>
  <p:clrMapOvr>
    <a:masterClrMapping/>
  </p:clrMapOvr>
  <p:transition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4000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6195">
                      <a:schemeClr val="tx1"/>
                    </a:gs>
                    <a:gs pos="24779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4638" y="3954463"/>
            <a:ext cx="9143999" cy="738664"/>
          </a:xfrm>
          <a:noFill/>
        </p:spPr>
        <p:txBody>
          <a:bodyPr wrap="square" lIns="182880" tIns="146304" rIns="182880" bIns="146304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6195">
                      <a:schemeClr val="tx1"/>
                    </a:gs>
                    <a:gs pos="24779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89568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1209973"/>
            <a:ext cx="9143999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41404170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8182568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8" y="2125662"/>
            <a:ext cx="11887200" cy="1181862"/>
          </a:xfrm>
          <a:noFill/>
        </p:spPr>
        <p:txBody>
          <a:bodyPr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21239">
                      <a:srgbClr val="FFFFFF"/>
                    </a:gs>
                    <a:gs pos="52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06989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39" y="1241426"/>
            <a:ext cx="5486399" cy="2012859"/>
          </a:xfrm>
        </p:spPr>
        <p:txBody>
          <a:bodyPr>
            <a:spAutoFit/>
          </a:bodyPr>
          <a:lstStyle>
            <a:lvl1pPr>
              <a:defRPr sz="660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19825" y="0"/>
            <a:ext cx="6216650" cy="6992587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8422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Dark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892327"/>
      </p:ext>
    </p:extLst>
  </p:cSld>
  <p:clrMapOvr>
    <a:masterClrMapping/>
  </p:clrMapOvr>
  <p:transition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0768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159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369321"/>
      </p:ext>
    </p:extLst>
  </p:cSld>
  <p:clrMapOvr>
    <a:masterClrMapping/>
  </p:clrMapOvr>
  <p:transition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_color">
    <p:bg>
      <p:bgPr>
        <a:solidFill>
          <a:srgbClr val="505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274638" y="6294476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2016 Microsoft Corporation. All rights reserved. 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80"/>
          <a:stretch/>
        </p:blipFill>
        <p:spPr bwMode="invGray">
          <a:xfrm>
            <a:off x="457200" y="479425"/>
            <a:ext cx="1449939" cy="3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6402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Use this Layout for Speaker Notes slides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172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26" Type="http://schemas.openxmlformats.org/officeDocument/2006/relationships/theme" Target="../theme/theme3.xml"/><Relationship Id="rId3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66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5" Type="http://schemas.openxmlformats.org/officeDocument/2006/relationships/slideLayout" Target="../slideLayouts/slideLayout70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69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64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7.xml"/><Relationship Id="rId2" Type="http://schemas.openxmlformats.org/officeDocument/2006/relationships/slideLayout" Target="../slideLayouts/slideLayout72.xml"/><Relationship Id="rId16" Type="http://schemas.openxmlformats.org/officeDocument/2006/relationships/slideLayout" Target="../slideLayouts/slideLayout86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85.xml"/><Relationship Id="rId10" Type="http://schemas.openxmlformats.org/officeDocument/2006/relationships/slideLayout" Target="../slideLayouts/slideLayout80.xml"/><Relationship Id="rId19" Type="http://schemas.openxmlformats.org/officeDocument/2006/relationships/slideLayout" Target="../slideLayouts/slideLayout89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2618967" y="0"/>
            <a:ext cx="952401" cy="5766967"/>
            <a:chOff x="12618967" y="0"/>
            <a:chExt cx="952401" cy="5766967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4220" y="1040742"/>
              <a:ext cx="2698730" cy="629236"/>
              <a:chOff x="1584344" y="4543426"/>
              <a:chExt cx="2698730" cy="629236"/>
            </a:xfrm>
          </p:grpSpPr>
          <p:sp>
            <p:nvSpPr>
              <p:cNvPr id="37" name="Rectangle 36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Oragen</a:t>
                </a:r>
                <a:endPara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endParaRP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  <a:endParaRPr lang="en-US" sz="5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3413144" y="4543426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R:80 G:80 B:80</a:t>
                </a: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2498744" y="4882896"/>
                <a:ext cx="869930" cy="28976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Yellow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G:185 B:0</a:t>
                </a: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3413144" y="4882895"/>
                <a:ext cx="869930" cy="289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Orange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G:140 B:0</a:t>
                </a:r>
              </a:p>
            </p:txBody>
          </p:sp>
          <p:sp>
            <p:nvSpPr>
              <p:cNvPr id="45" name="Rectangle 44"/>
              <p:cNvSpPr/>
              <p:nvPr userDrawn="1"/>
            </p:nvSpPr>
            <p:spPr bwMode="auto">
              <a:xfrm>
                <a:off x="158434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 dirty="0">
                  <a:gradFill>
                    <a:gsLst>
                      <a:gs pos="37168">
                        <a:srgbClr val="292929"/>
                      </a:gs>
                      <a:gs pos="72000">
                        <a:srgbClr val="292929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Secondary colors (use only when necessary)</a:t>
              </a:r>
            </a:p>
          </p:txBody>
        </p:sp>
        <p:sp>
          <p:nvSpPr>
            <p:cNvPr id="22" name="Rectangle 21"/>
            <p:cNvSpPr/>
            <p:nvPr userDrawn="1"/>
          </p:nvSpPr>
          <p:spPr bwMode="auto">
            <a:xfrm rot="5400000">
              <a:off x="12328888" y="5187119"/>
              <a:ext cx="869930" cy="289766"/>
            </a:xfrm>
            <a:prstGeom prst="rect">
              <a:avLst/>
            </a:prstGeom>
            <a:solidFill>
              <a:srgbClr val="A8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Red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168 G:0 B:0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Rectangle 22"/>
            <p:cNvSpPr/>
            <p:nvPr userDrawn="1"/>
          </p:nvSpPr>
          <p:spPr bwMode="auto">
            <a:xfrm rot="5400000">
              <a:off x="12328888" y="3353997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Light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R:16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 G:124 B:16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4" name="Rectangle 23"/>
            <p:cNvSpPr/>
            <p:nvPr userDrawn="1"/>
          </p:nvSpPr>
          <p:spPr bwMode="auto">
            <a:xfrm rot="5400000">
              <a:off x="12328888" y="4272719"/>
              <a:ext cx="869930" cy="289766"/>
            </a:xfrm>
            <a:prstGeom prst="rect">
              <a:avLst/>
            </a:prstGeom>
            <a:solidFill>
              <a:srgbClr val="00205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R0 G32 B80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8" r:id="rId1"/>
    <p:sldLayoutId id="2147484300" r:id="rId2"/>
    <p:sldLayoutId id="2147484295" r:id="rId3"/>
    <p:sldLayoutId id="2147484240" r:id="rId4"/>
    <p:sldLayoutId id="2147484296" r:id="rId5"/>
    <p:sldLayoutId id="2147484241" r:id="rId6"/>
    <p:sldLayoutId id="2147484297" r:id="rId7"/>
    <p:sldLayoutId id="2147484244" r:id="rId8"/>
    <p:sldLayoutId id="2147484298" r:id="rId9"/>
    <p:sldLayoutId id="2147484245" r:id="rId10"/>
    <p:sldLayoutId id="2147484247" r:id="rId11"/>
    <p:sldLayoutId id="2147484249" r:id="rId12"/>
    <p:sldLayoutId id="2147484301" r:id="rId13"/>
    <p:sldLayoutId id="2147484251" r:id="rId14"/>
    <p:sldLayoutId id="2147484252" r:id="rId15"/>
    <p:sldLayoutId id="2147484257" r:id="rId16"/>
    <p:sldLayoutId id="2147484258" r:id="rId17"/>
    <p:sldLayoutId id="2147484260" r:id="rId18"/>
    <p:sldLayoutId id="2147484299" r:id="rId19"/>
    <p:sldLayoutId id="2147484263" r:id="rId20"/>
    <p:sldLayoutId id="2147484403" r:id="rId21"/>
    <p:sldLayoutId id="2147484477" r:id="rId22"/>
    <p:sldLayoutId id="2147484478" r:id="rId23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 userDrawn="1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 userDrawn="1">
          <p15:clr>
            <a:srgbClr val="C35EA4"/>
          </p15:clr>
        </p15:guide>
        <p15:guide id="17" pos="7546" userDrawn="1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 userDrawn="1">
          <p15:clr>
            <a:srgbClr val="5ACBF0"/>
          </p15:clr>
        </p15:guide>
        <p15:guide id="25" orient="horz" pos="302" userDrawn="1">
          <p15:clr>
            <a:srgbClr val="C35EA4"/>
          </p15:clr>
        </p15:guide>
        <p15:guide id="26" orient="horz" pos="4104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2618967" y="0"/>
            <a:ext cx="952401" cy="5766967"/>
            <a:chOff x="12618967" y="0"/>
            <a:chExt cx="952401" cy="5766967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4220" y="1040742"/>
              <a:ext cx="2698730" cy="629236"/>
              <a:chOff x="1584344" y="4543426"/>
              <a:chExt cx="2698730" cy="629236"/>
            </a:xfrm>
          </p:grpSpPr>
          <p:sp>
            <p:nvSpPr>
              <p:cNvPr id="37" name="Rectangle 36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 err="1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Oragen</a:t>
                </a:r>
                <a:endPara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endParaRP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  <a:endParaRPr lang="en-US" sz="5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3413144" y="4543426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R:80 G:80 B:80</a:t>
                </a: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2498744" y="4882896"/>
                <a:ext cx="869930" cy="28976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Yellow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G:185 B:0</a:t>
                </a: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3413144" y="4882895"/>
                <a:ext cx="869930" cy="289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Orange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R:255 G:140 B:0</a:t>
                </a:r>
              </a:p>
            </p:txBody>
          </p:sp>
          <p:sp>
            <p:nvSpPr>
              <p:cNvPr id="45" name="Rectangle 44"/>
              <p:cNvSpPr/>
              <p:nvPr userDrawn="1"/>
            </p:nvSpPr>
            <p:spPr bwMode="auto">
              <a:xfrm>
                <a:off x="158434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 dirty="0">
                    <a:gradFill>
                      <a:gsLst>
                        <a:gs pos="37168">
                          <a:srgbClr val="292929"/>
                        </a:gs>
                        <a:gs pos="72000">
                          <a:srgbClr val="292929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 dirty="0">
                  <a:gradFill>
                    <a:gsLst>
                      <a:gs pos="37168">
                        <a:srgbClr val="292929"/>
                      </a:gs>
                      <a:gs pos="72000">
                        <a:srgbClr val="292929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algn="l" defTabSz="932742" rtl="0" eaLnBrk="1" latinLnBrk="0" hangingPunct="1"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 kern="1200" dirty="0">
                  <a:gradFill>
                    <a:gsLst>
                      <a:gs pos="82301">
                        <a:srgbClr val="292929"/>
                      </a:gs>
                      <a:gs pos="62000">
                        <a:srgbClr val="292929"/>
                      </a:gs>
                    </a:gsLst>
                    <a:lin ang="5400000" scaled="0"/>
                  </a:gradFill>
                  <a:latin typeface="+mn-lt"/>
                  <a:ea typeface="+mn-ea"/>
                  <a:cs typeface="+mn-cs"/>
                </a:rPr>
                <a:t>Secondary colors (use only when necessary)</a:t>
              </a:r>
            </a:p>
          </p:txBody>
        </p:sp>
        <p:sp>
          <p:nvSpPr>
            <p:cNvPr id="22" name="Rectangle 21"/>
            <p:cNvSpPr/>
            <p:nvPr userDrawn="1"/>
          </p:nvSpPr>
          <p:spPr bwMode="auto">
            <a:xfrm rot="5400000">
              <a:off x="12328888" y="5187119"/>
              <a:ext cx="869930" cy="289766"/>
            </a:xfrm>
            <a:prstGeom prst="rect">
              <a:avLst/>
            </a:prstGeom>
            <a:solidFill>
              <a:srgbClr val="A8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Red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168 G:0 B:0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Rectangle 22"/>
            <p:cNvSpPr/>
            <p:nvPr userDrawn="1"/>
          </p:nvSpPr>
          <p:spPr bwMode="auto">
            <a:xfrm rot="5400000">
              <a:off x="12328888" y="3353997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Light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R:16</a:t>
              </a:r>
              <a:r>
                <a:rPr lang="en-US" sz="500" baseline="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 G:124 B:16</a:t>
              </a:r>
              <a:endParaRPr lang="en-US" sz="500" dirty="0">
                <a:gradFill>
                  <a:gsLst>
                    <a:gs pos="2092">
                      <a:srgbClr val="F8F8F8"/>
                    </a:gs>
                    <a:gs pos="10042">
                      <a:srgbClr val="F8F8F8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4" name="Rectangle 23"/>
            <p:cNvSpPr/>
            <p:nvPr userDrawn="1"/>
          </p:nvSpPr>
          <p:spPr bwMode="auto">
            <a:xfrm rot="5400000">
              <a:off x="12328888" y="4272719"/>
              <a:ext cx="869930" cy="289766"/>
            </a:xfrm>
            <a:prstGeom prst="rect">
              <a:avLst/>
            </a:prstGeom>
            <a:solidFill>
              <a:srgbClr val="00205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Dark Blue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dirty="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R0 G32 B80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828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05" r:id="rId1"/>
    <p:sldLayoutId id="2147484406" r:id="rId2"/>
    <p:sldLayoutId id="2147484407" r:id="rId3"/>
    <p:sldLayoutId id="2147484408" r:id="rId4"/>
    <p:sldLayoutId id="2147484409" r:id="rId5"/>
    <p:sldLayoutId id="2147484410" r:id="rId6"/>
    <p:sldLayoutId id="2147484411" r:id="rId7"/>
    <p:sldLayoutId id="2147484412" r:id="rId8"/>
    <p:sldLayoutId id="2147484413" r:id="rId9"/>
    <p:sldLayoutId id="2147484414" r:id="rId10"/>
    <p:sldLayoutId id="2147484415" r:id="rId11"/>
    <p:sldLayoutId id="2147484416" r:id="rId12"/>
    <p:sldLayoutId id="2147484417" r:id="rId13"/>
    <p:sldLayoutId id="2147484418" r:id="rId14"/>
    <p:sldLayoutId id="2147484419" r:id="rId15"/>
    <p:sldLayoutId id="2147484420" r:id="rId16"/>
    <p:sldLayoutId id="2147484421" r:id="rId17"/>
    <p:sldLayoutId id="2147484422" r:id="rId18"/>
    <p:sldLayoutId id="2147484423" r:id="rId19"/>
    <p:sldLayoutId id="2147484424" r:id="rId20"/>
    <p:sldLayoutId id="2147484425" r:id="rId21"/>
    <p:sldLayoutId id="2147484426" r:id="rId22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12618967" y="0"/>
            <a:ext cx="952401" cy="5766965"/>
            <a:chOff x="12618967" y="0"/>
            <a:chExt cx="952401" cy="5766965"/>
          </a:xfrm>
        </p:grpSpPr>
        <p:grpSp>
          <p:nvGrpSpPr>
            <p:cNvPr id="26" name="Group 25"/>
            <p:cNvGrpSpPr/>
            <p:nvPr userDrawn="1"/>
          </p:nvGrpSpPr>
          <p:grpSpPr>
            <a:xfrm rot="5400000">
              <a:off x="11582059" y="1045293"/>
              <a:ext cx="2703052" cy="629236"/>
              <a:chOff x="1586734" y="4543426"/>
              <a:chExt cx="2703052" cy="629236"/>
            </a:xfrm>
          </p:grpSpPr>
          <p:sp>
            <p:nvSpPr>
              <p:cNvPr id="45" name="Rectangle 44"/>
              <p:cNvSpPr/>
              <p:nvPr userDrawn="1"/>
            </p:nvSpPr>
            <p:spPr bwMode="auto">
              <a:xfrm>
                <a:off x="1586734" y="4543427"/>
                <a:ext cx="869930" cy="28976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G:120 B:215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7" name="Rectangle 36"/>
              <p:cNvSpPr/>
              <p:nvPr userDrawn="1"/>
            </p:nvSpPr>
            <p:spPr bwMode="auto">
              <a:xfrm>
                <a:off x="3419856" y="4543428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Cyan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G:188 B:242</a:t>
                </a:r>
                <a:endParaRPr lang="en-US" sz="50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1" name="Rectangle 40"/>
              <p:cNvSpPr/>
              <p:nvPr userDrawn="1"/>
            </p:nvSpPr>
            <p:spPr bwMode="auto">
              <a:xfrm>
                <a:off x="1586734" y="4882896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210 G:210 B:210</a:t>
                </a:r>
                <a:endParaRPr lang="en-US" sz="500">
                  <a:gradFill>
                    <a:gsLst>
                      <a:gs pos="92035">
                        <a:srgbClr val="505050"/>
                      </a:gs>
                      <a:gs pos="27000">
                        <a:srgbClr val="50505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2" name="Rectangle 41"/>
              <p:cNvSpPr/>
              <p:nvPr userDrawn="1"/>
            </p:nvSpPr>
            <p:spPr bwMode="auto">
              <a:xfrm>
                <a:off x="2505456" y="4543426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G:32 B:80</a:t>
                </a:r>
                <a:endParaRPr lang="en-US" sz="5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3" name="Rectangle 42"/>
              <p:cNvSpPr/>
              <p:nvPr userDrawn="1"/>
            </p:nvSpPr>
            <p:spPr bwMode="auto">
              <a:xfrm>
                <a:off x="3413144" y="4882896"/>
                <a:ext cx="869930" cy="289766"/>
              </a:xfrm>
              <a:prstGeom prst="rect">
                <a:avLst/>
              </a:prstGeom>
              <a:solidFill>
                <a:srgbClr val="50505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80 G:80 B:80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4" name="Rectangle 43"/>
              <p:cNvSpPr/>
              <p:nvPr userDrawn="1"/>
            </p:nvSpPr>
            <p:spPr bwMode="auto">
              <a:xfrm>
                <a:off x="2505456" y="4882895"/>
                <a:ext cx="869930" cy="289766"/>
              </a:xfrm>
              <a:prstGeom prst="rect">
                <a:avLst/>
              </a:prstGeom>
              <a:solidFill>
                <a:srgbClr val="73737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115 G:115 B:115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27" name="Group 26"/>
            <p:cNvGrpSpPr/>
            <p:nvPr userDrawn="1"/>
          </p:nvGrpSpPr>
          <p:grpSpPr>
            <a:xfrm rot="5400000">
              <a:off x="11412325" y="4270556"/>
              <a:ext cx="2703052" cy="289766"/>
              <a:chOff x="4476564" y="4543426"/>
              <a:chExt cx="2703052" cy="289766"/>
            </a:xfrm>
          </p:grpSpPr>
          <p:sp>
            <p:nvSpPr>
              <p:cNvPr id="33" name="Rectangle 32"/>
              <p:cNvSpPr/>
              <p:nvPr userDrawn="1"/>
            </p:nvSpPr>
            <p:spPr bwMode="auto">
              <a:xfrm>
                <a:off x="5395286" y="4543426"/>
                <a:ext cx="869930" cy="289766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Purple</a:t>
                </a:r>
              </a:p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kern="12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R:92 G:45 B:145</a:t>
                </a:r>
              </a:p>
            </p:txBody>
          </p:sp>
          <p:sp>
            <p:nvSpPr>
              <p:cNvPr id="34" name="Rectangle 33"/>
              <p:cNvSpPr/>
              <p:nvPr userDrawn="1"/>
            </p:nvSpPr>
            <p:spPr bwMode="auto">
              <a:xfrm>
                <a:off x="6309686" y="4543426"/>
                <a:ext cx="869930" cy="289766"/>
              </a:xfrm>
              <a:prstGeom prst="rect">
                <a:avLst/>
              </a:prstGeom>
              <a:solidFill>
                <a:srgbClr val="D83B0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Orange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216 G:59 B:1</a:t>
                </a:r>
              </a:p>
            </p:txBody>
          </p:sp>
          <p:sp>
            <p:nvSpPr>
              <p:cNvPr id="35" name="Rectangle 34"/>
              <p:cNvSpPr/>
              <p:nvPr userDrawn="1"/>
            </p:nvSpPr>
            <p:spPr bwMode="auto">
              <a:xfrm>
                <a:off x="4476564" y="4543426"/>
                <a:ext cx="869930" cy="289766"/>
              </a:xfrm>
              <a:prstGeom prst="rect">
                <a:avLst/>
              </a:prstGeom>
              <a:solidFill>
                <a:srgbClr val="107C1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Green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16 G:124 B:16</a:t>
                </a:r>
                <a:endParaRPr lang="en-US" sz="500">
                  <a:gradFill>
                    <a:gsLst>
                      <a:gs pos="2092">
                        <a:srgbClr val="F8F8F8"/>
                      </a:gs>
                      <a:gs pos="10042">
                        <a:srgbClr val="F8F8F8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28" name="TextBox 27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Main colors</a:t>
              </a:r>
            </a:p>
          </p:txBody>
        </p:sp>
        <p:sp>
          <p:nvSpPr>
            <p:cNvPr id="32" name="TextBox 31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Secondary colors (use only when</a:t>
              </a:r>
              <a:r>
                <a:rPr lang="en-US" sz="1000" baseline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 necessary)</a:t>
              </a:r>
              <a:endParaRPr lang="en-US" sz="10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7989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29" r:id="rId1"/>
    <p:sldLayoutId id="2147484430" r:id="rId2"/>
    <p:sldLayoutId id="2147484431" r:id="rId3"/>
    <p:sldLayoutId id="2147484432" r:id="rId4"/>
    <p:sldLayoutId id="2147484433" r:id="rId5"/>
    <p:sldLayoutId id="2147484434" r:id="rId6"/>
    <p:sldLayoutId id="2147484435" r:id="rId7"/>
    <p:sldLayoutId id="2147484436" r:id="rId8"/>
    <p:sldLayoutId id="2147484437" r:id="rId9"/>
    <p:sldLayoutId id="2147484438" r:id="rId10"/>
    <p:sldLayoutId id="2147484439" r:id="rId11"/>
    <p:sldLayoutId id="2147484440" r:id="rId12"/>
    <p:sldLayoutId id="2147484441" r:id="rId13"/>
    <p:sldLayoutId id="2147484442" r:id="rId14"/>
    <p:sldLayoutId id="2147484443" r:id="rId15"/>
    <p:sldLayoutId id="2147484444" r:id="rId16"/>
    <p:sldLayoutId id="2147484445" r:id="rId17"/>
    <p:sldLayoutId id="2147484446" r:id="rId18"/>
    <p:sldLayoutId id="2147484447" r:id="rId19"/>
    <p:sldLayoutId id="2147484448" r:id="rId20"/>
    <p:sldLayoutId id="2147484449" r:id="rId21"/>
    <p:sldLayoutId id="2147484450" r:id="rId22"/>
    <p:sldLayoutId id="2147484451" r:id="rId23"/>
    <p:sldLayoutId id="2147484452" r:id="rId24"/>
    <p:sldLayoutId id="2147484453" r:id="rId25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marL="342900" marR="0" lvl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584200" marR="0" lvl="1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2" name="Group 41"/>
          <p:cNvGrpSpPr/>
          <p:nvPr userDrawn="1"/>
        </p:nvGrpSpPr>
        <p:grpSpPr>
          <a:xfrm>
            <a:off x="12618967" y="0"/>
            <a:ext cx="952401" cy="5766965"/>
            <a:chOff x="12618967" y="0"/>
            <a:chExt cx="952401" cy="5766965"/>
          </a:xfrm>
        </p:grpSpPr>
        <p:grpSp>
          <p:nvGrpSpPr>
            <p:cNvPr id="43" name="Group 42"/>
            <p:cNvGrpSpPr/>
            <p:nvPr userDrawn="1"/>
          </p:nvGrpSpPr>
          <p:grpSpPr>
            <a:xfrm rot="5400000">
              <a:off x="11582059" y="1045293"/>
              <a:ext cx="2703052" cy="629236"/>
              <a:chOff x="1586734" y="4543426"/>
              <a:chExt cx="2703052" cy="629236"/>
            </a:xfrm>
          </p:grpSpPr>
          <p:sp>
            <p:nvSpPr>
              <p:cNvPr id="50" name="Rectangle 49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rgbClr val="0078D7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G:120 B:215</a:t>
                </a:r>
              </a:p>
            </p:txBody>
          </p:sp>
          <p:sp>
            <p:nvSpPr>
              <p:cNvPr id="51" name="Rectangle 50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rgbClr val="00BCF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8319">
                          <a:srgbClr val="505050"/>
                        </a:gs>
                        <a:gs pos="79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Cyan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8319">
                          <a:srgbClr val="505050"/>
                        </a:gs>
                        <a:gs pos="79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G:188 B:242</a:t>
                </a:r>
              </a:p>
            </p:txBody>
          </p:sp>
          <p:sp>
            <p:nvSpPr>
              <p:cNvPr id="52" name="Rectangle 51"/>
              <p:cNvSpPr/>
              <p:nvPr userDrawn="1"/>
            </p:nvSpPr>
            <p:spPr bwMode="auto">
              <a:xfrm>
                <a:off x="1586734" y="4882896"/>
                <a:ext cx="869930" cy="289766"/>
              </a:xfrm>
              <a:prstGeom prst="rect">
                <a:avLst/>
              </a:prstGeom>
              <a:solidFill>
                <a:srgbClr val="D2D2D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Light 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R:210 G:210 B:210</a:t>
                </a:r>
              </a:p>
            </p:txBody>
          </p:sp>
          <p:sp>
            <p:nvSpPr>
              <p:cNvPr id="53" name="Rectangle 52"/>
              <p:cNvSpPr/>
              <p:nvPr userDrawn="1"/>
            </p:nvSpPr>
            <p:spPr bwMode="auto">
              <a:xfrm>
                <a:off x="3419856" y="4543426"/>
                <a:ext cx="869930" cy="289766"/>
              </a:xfrm>
              <a:prstGeom prst="rect">
                <a:avLst/>
              </a:prstGeom>
              <a:solidFill>
                <a:srgbClr val="00205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Dark Blue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R:0 G:32 B:80</a:t>
                </a:r>
              </a:p>
            </p:txBody>
          </p:sp>
          <p:sp>
            <p:nvSpPr>
              <p:cNvPr id="54" name="Rectangle 53"/>
              <p:cNvSpPr/>
              <p:nvPr userDrawn="1"/>
            </p:nvSpPr>
            <p:spPr bwMode="auto">
              <a:xfrm>
                <a:off x="3413144" y="4882896"/>
                <a:ext cx="869930" cy="289766"/>
              </a:xfrm>
              <a:prstGeom prst="rect">
                <a:avLst/>
              </a:prstGeom>
              <a:solidFill>
                <a:srgbClr val="323232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Dark 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R:50 G:50 B:50</a:t>
                </a:r>
              </a:p>
            </p:txBody>
          </p:sp>
          <p:sp>
            <p:nvSpPr>
              <p:cNvPr id="55" name="Rectangle 54"/>
              <p:cNvSpPr/>
              <p:nvPr userDrawn="1"/>
            </p:nvSpPr>
            <p:spPr bwMode="auto">
              <a:xfrm>
                <a:off x="2505456" y="4882895"/>
                <a:ext cx="869930" cy="289766"/>
              </a:xfrm>
              <a:prstGeom prst="rect">
                <a:avLst/>
              </a:prstGeom>
              <a:solidFill>
                <a:srgbClr val="737373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Gray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R:115 G:115 B:115</a:t>
                </a:r>
              </a:p>
            </p:txBody>
          </p:sp>
        </p:grpSp>
        <p:grpSp>
          <p:nvGrpSpPr>
            <p:cNvPr id="44" name="Group 43"/>
            <p:cNvGrpSpPr/>
            <p:nvPr userDrawn="1"/>
          </p:nvGrpSpPr>
          <p:grpSpPr>
            <a:xfrm rot="5400000">
              <a:off x="11412325" y="4270556"/>
              <a:ext cx="2703052" cy="289766"/>
              <a:chOff x="4476564" y="4543426"/>
              <a:chExt cx="2703052" cy="289766"/>
            </a:xfrm>
          </p:grpSpPr>
          <p:sp>
            <p:nvSpPr>
              <p:cNvPr id="47" name="Rectangle 46"/>
              <p:cNvSpPr/>
              <p:nvPr userDrawn="1"/>
            </p:nvSpPr>
            <p:spPr bwMode="auto">
              <a:xfrm>
                <a:off x="5395286" y="4543426"/>
                <a:ext cx="869930" cy="289766"/>
              </a:xfrm>
              <a:prstGeom prst="rect">
                <a:avLst/>
              </a:prstGeom>
              <a:solidFill>
                <a:srgbClr val="5C2D9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baseline="0" noProof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Purple</a:t>
                </a:r>
              </a:p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R:92 G:45 B:145</a:t>
                </a:r>
              </a:p>
            </p:txBody>
          </p:sp>
          <p:sp>
            <p:nvSpPr>
              <p:cNvPr id="48" name="Rectangle 47"/>
              <p:cNvSpPr/>
              <p:nvPr userDrawn="1"/>
            </p:nvSpPr>
            <p:spPr bwMode="auto">
              <a:xfrm>
                <a:off x="6309686" y="4543426"/>
                <a:ext cx="869930" cy="289766"/>
              </a:xfrm>
              <a:prstGeom prst="rect">
                <a:avLst/>
              </a:prstGeom>
              <a:solidFill>
                <a:srgbClr val="D83B01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Orange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R:216 G:59 B:1</a:t>
                </a:r>
              </a:p>
            </p:txBody>
          </p:sp>
          <p:sp>
            <p:nvSpPr>
              <p:cNvPr id="49" name="Rectangle 48"/>
              <p:cNvSpPr/>
              <p:nvPr userDrawn="1"/>
            </p:nvSpPr>
            <p:spPr bwMode="auto">
              <a:xfrm>
                <a:off x="4476564" y="4543426"/>
                <a:ext cx="869930" cy="289766"/>
              </a:xfrm>
              <a:prstGeom prst="rect">
                <a:avLst/>
              </a:prstGeom>
              <a:solidFill>
                <a:srgbClr val="107C10"/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1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Green</a:t>
                </a:r>
              </a:p>
              <a:p>
                <a:pPr marL="0" marR="0" lvl="0" indent="0" defTabSz="932472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0" u="none" strike="noStrike" kern="0" cap="none" spc="0" normalizeH="0" baseline="0" noProof="0">
                    <a:ln>
                      <a:noFill/>
                    </a:ln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rPr>
                  <a:t>R:16 G:124 B:16</a:t>
                </a:r>
              </a:p>
            </p:txBody>
          </p:sp>
        </p:grpSp>
        <p:sp>
          <p:nvSpPr>
            <p:cNvPr id="45" name="TextBox 44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505050"/>
                      </a:gs>
                      <a:gs pos="30000">
                        <a:srgbClr val="505050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Main colors</a:t>
              </a:r>
            </a:p>
          </p:txBody>
        </p:sp>
        <p:sp>
          <p:nvSpPr>
            <p:cNvPr id="46" name="TextBox 45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505050"/>
                      </a:gs>
                      <a:gs pos="30000">
                        <a:srgbClr val="505050"/>
                      </a:gs>
                    </a:gsLst>
                    <a:lin ang="5400000" scaled="0"/>
                  </a:gradFill>
                  <a:effectLst/>
                  <a:uLnTx/>
                  <a:uFillTx/>
                </a:rPr>
                <a:t>Secondary colors (use only when necessary)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29367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56" r:id="rId1"/>
    <p:sldLayoutId id="2147484457" r:id="rId2"/>
    <p:sldLayoutId id="2147484458" r:id="rId3"/>
    <p:sldLayoutId id="2147484459" r:id="rId4"/>
    <p:sldLayoutId id="2147484460" r:id="rId5"/>
    <p:sldLayoutId id="2147484461" r:id="rId6"/>
    <p:sldLayoutId id="2147484462" r:id="rId7"/>
    <p:sldLayoutId id="2147484463" r:id="rId8"/>
    <p:sldLayoutId id="2147484464" r:id="rId9"/>
    <p:sldLayoutId id="2147484465" r:id="rId10"/>
    <p:sldLayoutId id="2147484466" r:id="rId11"/>
    <p:sldLayoutId id="2147484467" r:id="rId12"/>
    <p:sldLayoutId id="2147484468" r:id="rId13"/>
    <p:sldLayoutId id="2147484469" r:id="rId14"/>
    <p:sldLayoutId id="2147484470" r:id="rId15"/>
    <p:sldLayoutId id="2147484471" r:id="rId16"/>
    <p:sldLayoutId id="2147484472" r:id="rId17"/>
    <p:sldLayoutId id="2147484473" r:id="rId18"/>
    <p:sldLayoutId id="2147484474" r:id="rId19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4000" kern="1200" spc="0" baseline="0" dirty="0" smtClean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2400" kern="1200" spc="0" baseline="0" dirty="0" smtClean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jpe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8.jp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2.png"/><Relationship Id="rId5" Type="http://schemas.openxmlformats.org/officeDocument/2006/relationships/image" Target="../media/image19.png"/><Relationship Id="rId4" Type="http://schemas.openxmlformats.org/officeDocument/2006/relationships/image" Target="../media/image10.png"/><Relationship Id="rId9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sv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4.sv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apr.io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2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05982" y="666693"/>
            <a:ext cx="11201400" cy="2297169"/>
          </a:xfrm>
        </p:spPr>
        <p:txBody>
          <a:bodyPr/>
          <a:lstStyle/>
          <a:p>
            <a:r>
              <a:rPr lang="pt-BR" sz="4400" b="1" dirty="0"/>
              <a:t>Descomplicando o uso de múltiplas </a:t>
            </a:r>
            <a:r>
              <a:rPr lang="pt-BR" sz="4400" b="1" dirty="0" err="1"/>
              <a:t>IAs</a:t>
            </a:r>
            <a:r>
              <a:rPr lang="pt-BR" sz="4400" b="1" dirty="0"/>
              <a:t> com </a:t>
            </a:r>
            <a:r>
              <a:rPr lang="pt-BR" sz="4400" b="1" dirty="0" err="1"/>
              <a:t>Dapr</a:t>
            </a:r>
            <a:r>
              <a:rPr lang="pt-BR" sz="4400" b="1" dirty="0"/>
              <a:t> e AI Gateways</a:t>
            </a:r>
            <a:endParaRPr lang="pt-BR" sz="3000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3F52FE4D-4A7E-E268-38E9-41C78C5634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9279" y="2996817"/>
            <a:ext cx="7502558" cy="1872045"/>
          </a:xfrm>
        </p:spPr>
        <p:txBody>
          <a:bodyPr/>
          <a:lstStyle/>
          <a:p>
            <a:r>
              <a:rPr lang="en-US" sz="2800" b="1" dirty="0"/>
              <a:t>Renato </a:t>
            </a:r>
            <a:r>
              <a:rPr lang="en-US" sz="2800" b="1" dirty="0" err="1"/>
              <a:t>Groffe</a:t>
            </a:r>
            <a:endParaRPr lang="en-US" sz="2800" b="1" dirty="0"/>
          </a:p>
          <a:p>
            <a:r>
              <a:rPr lang="en-US" sz="2400" dirty="0"/>
              <a:t>Microsoft MVP, Docker Captain, Grafana Champion</a:t>
            </a:r>
          </a:p>
          <a:p>
            <a:r>
              <a:rPr lang="en-US" sz="2400" dirty="0"/>
              <a:t>linkedin.com/in/</a:t>
            </a:r>
            <a:r>
              <a:rPr lang="en-US" sz="2400" dirty="0" err="1"/>
              <a:t>renatogroffe</a:t>
            </a:r>
            <a:br>
              <a:rPr lang="en-US" sz="2400" dirty="0"/>
            </a:br>
            <a:r>
              <a:rPr lang="en-US" sz="2400" dirty="0"/>
              <a:t>renatogroffe.medium.com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E72543C-58EE-8C56-6D9B-408C377B1A29}"/>
              </a:ext>
            </a:extLst>
          </p:cNvPr>
          <p:cNvSpPr/>
          <p:nvPr/>
        </p:nvSpPr>
        <p:spPr bwMode="auto">
          <a:xfrm>
            <a:off x="198437" y="5935662"/>
            <a:ext cx="2057400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pt-BR" sz="2000" dirty="0">
              <a:gradFill>
                <a:gsLst>
                  <a:gs pos="5439">
                    <a:srgbClr val="F8F8F8"/>
                  </a:gs>
                  <a:gs pos="10000">
                    <a:srgbClr val="F8F8F8"/>
                  </a:gs>
                </a:gsLst>
                <a:lin ang="5400000" scaled="0"/>
              </a:gradFill>
            </a:endParaRP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D4B30DA8-BFD8-3D80-AC52-12939778F923}"/>
              </a:ext>
            </a:extLst>
          </p:cNvPr>
          <p:cNvPicPr>
            <a:picLocks noChangeAspect="1"/>
          </p:cNvPicPr>
          <p:nvPr/>
        </p:nvPicPr>
        <p:blipFill>
          <a:blip>
            <a:lum bright="20000" contrast="4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1843" y="1986858"/>
            <a:ext cx="2364256" cy="1260938"/>
          </a:xfrm>
          <a:prstGeom prst="rect">
            <a:avLst/>
          </a:prstGeom>
        </p:spPr>
      </p:pic>
      <p:pic>
        <p:nvPicPr>
          <p:cNvPr id="5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5D3EEE63-27A7-D496-2134-29E2C27FAA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7" y="5920754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8" descr="Uma imagem contendo desenho&#10;&#10;Descrição gerada automaticamente">
            <a:extLst>
              <a:ext uri="{FF2B5EF4-FFF2-40B4-BE49-F238E27FC236}">
                <a16:creationId xmlns:a16="http://schemas.microsoft.com/office/drawing/2014/main" id="{77446191-EFBA-579D-1B57-F2D516F07BC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0590" r="25492"/>
          <a:stretch/>
        </p:blipFill>
        <p:spPr>
          <a:xfrm>
            <a:off x="2555081" y="5946344"/>
            <a:ext cx="2405044" cy="785896"/>
          </a:xfrm>
          <a:prstGeom prst="rect">
            <a:avLst/>
          </a:prstGeom>
        </p:spPr>
      </p:pic>
      <p:pic>
        <p:nvPicPr>
          <p:cNvPr id="11" name="Imagem 10" descr="Desenho de personagem de desenho animado&#10;&#10;O conteúdo gerado por IA pode estar incorreto.">
            <a:extLst>
              <a:ext uri="{FF2B5EF4-FFF2-40B4-BE49-F238E27FC236}">
                <a16:creationId xmlns:a16="http://schemas.microsoft.com/office/drawing/2014/main" id="{309CA496-B6A0-13FC-F649-2AC66EB334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2717" y="5757844"/>
            <a:ext cx="1154100" cy="1154100"/>
          </a:xfrm>
          <a:prstGeom prst="rect">
            <a:avLst/>
          </a:prstGeom>
        </p:spPr>
      </p:pic>
      <p:pic>
        <p:nvPicPr>
          <p:cNvPr id="13" name="Imagem 12" descr="Placa azul com letras brancas&#10;&#10;O conteúdo gerado por IA pode estar incorreto.">
            <a:extLst>
              <a:ext uri="{FF2B5EF4-FFF2-40B4-BE49-F238E27FC236}">
                <a16:creationId xmlns:a16="http://schemas.microsoft.com/office/drawing/2014/main" id="{5CE390BF-AB0D-5E63-BD76-7C8E3E2FF6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4227" y="5527652"/>
            <a:ext cx="1314450" cy="131445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33D1047A-2133-1AA1-3D0F-AF2078CA20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77877" y="5642769"/>
            <a:ext cx="1443826" cy="1435893"/>
          </a:xfrm>
          <a:prstGeom prst="rect">
            <a:avLst/>
          </a:prstGeom>
        </p:spPr>
      </p:pic>
      <p:pic>
        <p:nvPicPr>
          <p:cNvPr id="17" name="Imagem 16" descr="Uma imagem contendo objeto, relógio, placa, monitor&#10;&#10;Descrição gerada automaticamente">
            <a:extLst>
              <a:ext uri="{FF2B5EF4-FFF2-40B4-BE49-F238E27FC236}">
                <a16:creationId xmlns:a16="http://schemas.microsoft.com/office/drawing/2014/main" id="{AA025995-0145-BED8-D907-3568860D747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56561" y="6010530"/>
            <a:ext cx="2052933" cy="648727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20C0B64F-5524-6EE7-4F77-B73D428A54D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11673" y="5962654"/>
            <a:ext cx="1267961" cy="796121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38C26710-1F1A-75FC-2F70-3D3A92BE8324}"/>
              </a:ext>
            </a:extLst>
          </p:cNvPr>
          <p:cNvPicPr/>
          <p:nvPr/>
        </p:nvPicPr>
        <p:blipFill>
          <a:blip r:embed="rId11"/>
          <a:stretch/>
        </p:blipFill>
        <p:spPr>
          <a:xfrm>
            <a:off x="8123237" y="2996817"/>
            <a:ext cx="2354400" cy="235440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76075595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01916" y="1058862"/>
            <a:ext cx="7692721" cy="51816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Microsoft Most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Valuable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Professional (MVP)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Docker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Captain</a:t>
            </a:r>
            <a:endParaRPr lang="pt-BR" sz="2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Grafana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Champion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APISEC U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Ambassador</a:t>
            </a:r>
            <a:endParaRPr lang="pt-BR" sz="2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Multi-Plataform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Technical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Audience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Contributor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(MTAC)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Arquiteto de Soluções/Software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+20 anos de experiência na área de Tecnologia</a:t>
            </a:r>
          </a:p>
          <a:p>
            <a:pPr>
              <a:lnSpc>
                <a:spcPct val="100000"/>
              </a:lnSpc>
            </a:pP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Community </a:t>
            </a:r>
            <a:r>
              <a:rPr lang="pt-BR" sz="23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Leader</a:t>
            </a:r>
            <a:r>
              <a:rPr lang="pt-BR" sz="2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Autor Técnico e Palestrante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0837" y="36366"/>
            <a:ext cx="5541788" cy="1174896"/>
          </a:xfrm>
        </p:spPr>
        <p:txBody>
          <a:bodyPr anchor="ctr">
            <a:normAutofit/>
          </a:bodyPr>
          <a:lstStyle/>
          <a:p>
            <a:pPr algn="l"/>
            <a:r>
              <a:rPr lang="pt-PT" sz="4488" b="1" dirty="0">
                <a:solidFill>
                  <a:schemeClr val="bg2">
                    <a:lumMod val="25000"/>
                  </a:schemeClr>
                </a:solidFill>
              </a:rPr>
              <a:t>Renato Groffe</a:t>
            </a:r>
          </a:p>
        </p:txBody>
      </p:sp>
      <p:sp>
        <p:nvSpPr>
          <p:cNvPr id="17" name="Content Placeholder 1"/>
          <p:cNvSpPr txBox="1">
            <a:spLocks/>
          </p:cNvSpPr>
          <p:nvPr/>
        </p:nvSpPr>
        <p:spPr>
          <a:xfrm>
            <a:off x="883" y="6589794"/>
            <a:ext cx="12434710" cy="415870"/>
          </a:xfrm>
          <a:prstGeom prst="rect">
            <a:avLst/>
          </a:prstGeom>
          <a:solidFill>
            <a:srgbClr val="292929"/>
          </a:solidFill>
        </p:spPr>
        <p:txBody>
          <a:bodyPr vert="horz" lIns="93247" tIns="46623" rIns="93247" bIns="46623" rtlCol="0">
            <a:noAutofit/>
          </a:bodyPr>
          <a:lstStyle>
            <a:lvl1pPr marL="342900" indent="-3429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742950" indent="-28575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ts val="2600"/>
              </a:lnSpc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pt-BR" sz="1836" spc="300" dirty="0">
                <a:solidFill>
                  <a:schemeClr val="bg1"/>
                </a:solidFill>
              </a:rPr>
              <a:t>https://renatogroffe.medium.com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F16374F2-EFE7-4775-AD13-95766DD40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113" y="472111"/>
            <a:ext cx="2064045" cy="2290202"/>
          </a:xfrm>
          <a:prstGeom prst="rect">
            <a:avLst/>
          </a:prstGeom>
        </p:spPr>
      </p:pic>
      <p:pic>
        <p:nvPicPr>
          <p:cNvPr id="9" name="Picture 2" descr="http://www.codeisahighway.com/content/images/2015/10/MVP_Logo_Horizontal_Preferred_Cyan300_RGB_300ppi.png">
            <a:extLst>
              <a:ext uri="{FF2B5EF4-FFF2-40B4-BE49-F238E27FC236}">
                <a16:creationId xmlns:a16="http://schemas.microsoft.com/office/drawing/2014/main" id="{C942EB67-E85D-42B0-8C54-899E7CBFA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23" y="5032824"/>
            <a:ext cx="2052933" cy="828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 descr="Placa branca com texto preto sobre fundo azul&#10;&#10;Descrição gerada automaticamente">
            <a:extLst>
              <a:ext uri="{FF2B5EF4-FFF2-40B4-BE49-F238E27FC236}">
                <a16:creationId xmlns:a16="http://schemas.microsoft.com/office/drawing/2014/main" id="{A06A382F-CB5E-49D3-A714-BF89782F31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290" y="4708755"/>
            <a:ext cx="1403451" cy="140345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1C07B8D-D885-A29F-54DF-949F736538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1898" y="4646564"/>
            <a:ext cx="1600799" cy="1600799"/>
          </a:xfrm>
          <a:prstGeom prst="rect">
            <a:avLst/>
          </a:prstGeom>
        </p:spPr>
      </p:pic>
      <p:pic>
        <p:nvPicPr>
          <p:cNvPr id="7" name="Imagem 6" descr="Placa azul com letras brancas&#10;&#10;O conteúdo gerado por IA pode estar incorreto.">
            <a:extLst>
              <a:ext uri="{FF2B5EF4-FFF2-40B4-BE49-F238E27FC236}">
                <a16:creationId xmlns:a16="http://schemas.microsoft.com/office/drawing/2014/main" id="{CAB713EA-9E3B-51D0-845C-81E073A9D4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1895" y="4389477"/>
            <a:ext cx="1699365" cy="1699365"/>
          </a:xfrm>
          <a:prstGeom prst="rect">
            <a:avLst/>
          </a:prstGeom>
        </p:spPr>
      </p:pic>
      <p:pic>
        <p:nvPicPr>
          <p:cNvPr id="4" name="Imagem 3" descr="Código QR&#10;&#10;O conteúdo gerado por IA pode estar incorreto.">
            <a:extLst>
              <a:ext uri="{FF2B5EF4-FFF2-40B4-BE49-F238E27FC236}">
                <a16:creationId xmlns:a16="http://schemas.microsoft.com/office/drawing/2014/main" id="{D58C7CEE-9AAE-6B90-9DC4-80CD1A771B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8736" y="3291903"/>
            <a:ext cx="2768301" cy="2768301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DF927417-7C4B-9284-BD5A-0A0DF27317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28221" y="4433730"/>
            <a:ext cx="2057400" cy="204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431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DDCB3-688A-6AC7-A3ED-556E7C746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19A32D-2B68-7979-A26C-4D640C330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Conteúdos desta apresentação</a:t>
            </a: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5B73AABD-0E0C-52EB-E837-CB826874F805}"/>
              </a:ext>
            </a:extLst>
          </p:cNvPr>
          <p:cNvSpPr>
            <a:spLocks noGrp="1"/>
          </p:cNvSpPr>
          <p:nvPr/>
        </p:nvSpPr>
        <p:spPr>
          <a:xfrm>
            <a:off x="992553" y="3617497"/>
            <a:ext cx="10483484" cy="572464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800" b="1" dirty="0">
                <a:solidFill>
                  <a:schemeClr val="bg1"/>
                </a:solidFill>
              </a:rPr>
              <a:t>github.com/renatogroffe/dapr-ai-services_ai-weekend-2026-10</a:t>
            </a:r>
            <a:endParaRPr lang="pt-BR" sz="2400" b="1" dirty="0">
              <a:solidFill>
                <a:schemeClr val="bg1"/>
              </a:solidFill>
            </a:endParaRPr>
          </a:p>
        </p:txBody>
      </p:sp>
      <p:pic>
        <p:nvPicPr>
          <p:cNvPr id="3" name="Imagem 2" descr="dapr-stacked-color.png">
            <a:extLst>
              <a:ext uri="{FF2B5EF4-FFF2-40B4-BE49-F238E27FC236}">
                <a16:creationId xmlns:a16="http://schemas.microsoft.com/office/drawing/2014/main" id="{D9BC951B-5E56-1C4D-798B-C5DDA0100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0672" y="4625322"/>
            <a:ext cx="2514600" cy="188217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0061F1D-F107-6994-44F8-4D361E92E1DF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922837" y="4275755"/>
            <a:ext cx="2354400" cy="235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A4F078E6-1E44-8D69-4982-3F82D26753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91022" y="4625322"/>
            <a:ext cx="1962976" cy="1655267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5E317C13-5BF9-2266-E659-221D3061B3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088" y="1212849"/>
            <a:ext cx="2284413" cy="228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42974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DE097F-4825-4D14-B7FB-8434EC3B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Agenda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F01629-F01C-4AE7-B7DB-6087E6CFCF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439862"/>
            <a:ext cx="11810999" cy="2511457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Desafios no uso de Inteligências Artificiais hoje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 err="1">
                <a:solidFill>
                  <a:srgbClr val="494949"/>
                </a:solidFill>
              </a:rPr>
              <a:t>Dapr</a:t>
            </a:r>
            <a:r>
              <a:rPr lang="pt-BR" sz="3600" dirty="0">
                <a:solidFill>
                  <a:srgbClr val="494949"/>
                </a:solidFill>
              </a:rPr>
              <a:t>: uma visão geral e arquitetura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AI Gateways: segurança e padronização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</a:rPr>
              <a:t>Exemplos práticos</a:t>
            </a:r>
          </a:p>
        </p:txBody>
      </p:sp>
      <p:pic>
        <p:nvPicPr>
          <p:cNvPr id="6" name="Imagem 5" descr="dapr-stacked-color.png">
            <a:extLst>
              <a:ext uri="{FF2B5EF4-FFF2-40B4-BE49-F238E27FC236}">
                <a16:creationId xmlns:a16="http://schemas.microsoft.com/office/drawing/2014/main" id="{99FC05B4-4B6F-C402-A4FD-93794ABCB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0672" y="4625322"/>
            <a:ext cx="2514600" cy="188217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89E1CDC-624D-DD1E-104E-B72CF126168C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922837" y="4275755"/>
            <a:ext cx="2354400" cy="235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3929097C-CFF6-ADE5-1360-AEDAB45246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91022" y="4625322"/>
            <a:ext cx="1962976" cy="165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39069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1E85D-263C-3C80-8BED-DD8321AF4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EF94C3-8BE8-C5F2-9E16-2ABE55CCB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  <a:cs typeface="Segoe UI"/>
              </a:rPr>
              <a:t>Problemas comuns no uso de </a:t>
            </a:r>
            <a:r>
              <a:rPr lang="pt-BR" dirty="0" err="1">
                <a:solidFill>
                  <a:schemeClr val="accent3">
                    <a:lumMod val="75000"/>
                  </a:schemeClr>
                </a:solidFill>
                <a:cs typeface="Segoe UI"/>
              </a:rPr>
              <a:t>IAs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  <a:cs typeface="Segoe UI"/>
              </a:rPr>
              <a:t> hoje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5627CA1-1460-0AB0-5B37-8B577DD250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0438" y="1439862"/>
            <a:ext cx="7041271" cy="4985980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rgbClr val="494949"/>
                </a:solidFill>
                <a:cs typeface="Segoe UI Light"/>
              </a:rPr>
              <a:t>Diferentes soluções contam com </a:t>
            </a:r>
            <a:r>
              <a:rPr lang="pt-BR" sz="2600" b="1" dirty="0">
                <a:solidFill>
                  <a:srgbClr val="494949"/>
                </a:solidFill>
                <a:cs typeface="Segoe UI Light"/>
              </a:rPr>
              <a:t>diferentes </a:t>
            </a:r>
            <a:r>
              <a:rPr lang="pt-BR" sz="2600" b="1" dirty="0" err="1">
                <a:solidFill>
                  <a:srgbClr val="494949"/>
                </a:solidFill>
                <a:cs typeface="Segoe UI Light"/>
              </a:rPr>
              <a:t>payloads</a:t>
            </a:r>
            <a:r>
              <a:rPr lang="pt-BR" sz="2600" b="1" dirty="0">
                <a:solidFill>
                  <a:srgbClr val="494949"/>
                </a:solidFill>
                <a:cs typeface="Segoe UI Light"/>
              </a:rPr>
              <a:t>, métodos de autenticação</a:t>
            </a:r>
            <a:r>
              <a:rPr lang="pt-BR" sz="2600" dirty="0">
                <a:solidFill>
                  <a:srgbClr val="494949"/>
                </a:solidFill>
                <a:cs typeface="Segoe UI Light"/>
              </a:rPr>
              <a:t>...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600" dirty="0">
              <a:solidFill>
                <a:srgbClr val="494949"/>
              </a:solidFill>
              <a:ea typeface="+mj-lt"/>
              <a:cs typeface="Segoe UI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rgbClr val="494949"/>
                </a:solidFill>
                <a:ea typeface="+mj-lt"/>
                <a:cs typeface="+mj-lt"/>
              </a:rPr>
              <a:t>Muitas empresas utilizam </a:t>
            </a:r>
            <a:r>
              <a:rPr lang="pt-BR" sz="2600" b="1" dirty="0">
                <a:solidFill>
                  <a:srgbClr val="494949"/>
                </a:solidFill>
                <a:ea typeface="+mj-lt"/>
                <a:cs typeface="+mj-lt"/>
              </a:rPr>
              <a:t>mais de uma solução de IA Generativa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600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rgbClr val="494949"/>
                </a:solidFill>
                <a:ea typeface="+mj-lt"/>
                <a:cs typeface="+mj-lt"/>
              </a:rPr>
              <a:t>Novas versões bibliotecas são lançadas diariamente, muitas vezes com </a:t>
            </a:r>
            <a:r>
              <a:rPr lang="pt-BR" sz="2600" b="1" dirty="0" err="1">
                <a:solidFill>
                  <a:srgbClr val="494949"/>
                </a:solidFill>
                <a:ea typeface="+mj-lt"/>
                <a:cs typeface="+mj-lt"/>
              </a:rPr>
              <a:t>breaking</a:t>
            </a:r>
            <a:r>
              <a:rPr lang="pt-BR" sz="2600" b="1" dirty="0">
                <a:solidFill>
                  <a:srgbClr val="494949"/>
                </a:solidFill>
                <a:ea typeface="+mj-lt"/>
                <a:cs typeface="+mj-lt"/>
              </a:rPr>
              <a:t> </a:t>
            </a:r>
            <a:r>
              <a:rPr lang="pt-BR" sz="2600" b="1" dirty="0" err="1">
                <a:solidFill>
                  <a:srgbClr val="494949"/>
                </a:solidFill>
                <a:ea typeface="+mj-lt"/>
                <a:cs typeface="+mj-lt"/>
              </a:rPr>
              <a:t>changes</a:t>
            </a:r>
            <a:endParaRPr lang="pt-BR" sz="2600" b="1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600" dirty="0">
              <a:solidFill>
                <a:srgbClr val="494949"/>
              </a:solidFill>
              <a:ea typeface="+mj-lt"/>
              <a:cs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rgbClr val="494949"/>
                </a:solidFill>
                <a:ea typeface="+mj-lt"/>
                <a:cs typeface="+mj-lt"/>
              </a:rPr>
              <a:t>Preocupações com </a:t>
            </a:r>
            <a:r>
              <a:rPr lang="pt-BR" sz="2600" b="1" dirty="0">
                <a:solidFill>
                  <a:srgbClr val="494949"/>
                </a:solidFill>
                <a:ea typeface="+mj-lt"/>
                <a:cs typeface="+mj-lt"/>
              </a:rPr>
              <a:t>segurança</a:t>
            </a:r>
            <a:r>
              <a:rPr lang="pt-BR" sz="2600" dirty="0">
                <a:solidFill>
                  <a:srgbClr val="494949"/>
                </a:solidFill>
                <a:ea typeface="+mj-lt"/>
                <a:cs typeface="+mj-lt"/>
              </a:rPr>
              <a:t>, em virtude de inúmeros ataques reportados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3875912-E09E-3C5B-935A-7F0F384A61FA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8275637" y="1973262"/>
            <a:ext cx="3200400" cy="3285293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38001983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57BFA-7EAA-FB30-DE85-012544D46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C4732D-C830-8130-A272-AA4E2D61D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  <a:cs typeface="Segoe UI"/>
              </a:rPr>
              <a:t>Alternativas para solucionar isto...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FEEC080-5D79-3724-3AF7-CF8B9BE6DE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0438" y="2662646"/>
            <a:ext cx="7041271" cy="2400657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 err="1">
                <a:solidFill>
                  <a:srgbClr val="494949"/>
                </a:solidFill>
                <a:cs typeface="Segoe UI Light"/>
              </a:rPr>
              <a:t>Dapr</a:t>
            </a:r>
            <a:r>
              <a:rPr lang="pt-BR" sz="3600" dirty="0">
                <a:solidFill>
                  <a:srgbClr val="494949"/>
                </a:solidFill>
                <a:cs typeface="Segoe UI Light"/>
              </a:rPr>
              <a:t> (</a:t>
            </a:r>
            <a:r>
              <a:rPr lang="pt-BR" sz="3600" dirty="0" err="1">
                <a:solidFill>
                  <a:srgbClr val="494949"/>
                </a:solidFill>
                <a:cs typeface="Segoe UI Light"/>
              </a:rPr>
              <a:t>Distributed</a:t>
            </a:r>
            <a:r>
              <a:rPr lang="pt-BR" sz="3600" dirty="0">
                <a:solidFill>
                  <a:srgbClr val="494949"/>
                </a:solidFill>
                <a:cs typeface="Segoe UI Light"/>
              </a:rPr>
              <a:t> </a:t>
            </a:r>
            <a:r>
              <a:rPr lang="pt-BR" sz="3600" dirty="0" err="1">
                <a:solidFill>
                  <a:srgbClr val="494949"/>
                </a:solidFill>
                <a:cs typeface="Segoe UI Light"/>
              </a:rPr>
              <a:t>Application</a:t>
            </a:r>
            <a:r>
              <a:rPr lang="pt-BR" sz="3600" dirty="0">
                <a:solidFill>
                  <a:srgbClr val="494949"/>
                </a:solidFill>
                <a:cs typeface="Segoe UI Light"/>
              </a:rPr>
              <a:t> </a:t>
            </a:r>
            <a:r>
              <a:rPr lang="pt-BR" sz="3600" dirty="0" err="1">
                <a:solidFill>
                  <a:srgbClr val="494949"/>
                </a:solidFill>
                <a:cs typeface="Segoe UI Light"/>
              </a:rPr>
              <a:t>Runtime</a:t>
            </a:r>
            <a:r>
              <a:rPr lang="pt-BR" sz="3600" dirty="0">
                <a:solidFill>
                  <a:srgbClr val="494949"/>
                </a:solidFill>
                <a:cs typeface="Segoe UI Light"/>
              </a:rPr>
              <a:t>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dirty="0">
              <a:solidFill>
                <a:srgbClr val="494949"/>
              </a:solidFill>
              <a:ea typeface="+mj-lt"/>
              <a:cs typeface="Segoe UI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  <a:ea typeface="+mj-lt"/>
                <a:cs typeface="Segoe UI Light"/>
              </a:rPr>
              <a:t>AI Gateways</a:t>
            </a:r>
            <a:endParaRPr lang="pt-BR" sz="3600" dirty="0">
              <a:solidFill>
                <a:srgbClr val="494949"/>
              </a:solidFill>
              <a:ea typeface="+mj-lt"/>
              <a:cs typeface="+mj-lt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BDB7C570-B67D-8EA5-E2E0-06AD0FFFF8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9593" y="2878319"/>
            <a:ext cx="1353644" cy="135364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108E2BE3-63F7-E06B-60C2-4DD25A12D1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3313" y="3040281"/>
            <a:ext cx="1268320" cy="1069503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02E3164E-CD51-27DC-B6FF-A93229D436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85613" y="4338147"/>
            <a:ext cx="1295400" cy="115993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E105B778-B51B-DC36-A3DA-D085C658BB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8803" y="3018496"/>
            <a:ext cx="1116140" cy="111614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8496959D-ABF5-84E5-9DFA-2AB23B4B9C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3878" y="4322272"/>
            <a:ext cx="1191682" cy="1191682"/>
          </a:xfrm>
          <a:prstGeom prst="rect">
            <a:avLst/>
          </a:prstGeom>
        </p:spPr>
      </p:pic>
      <p:pic>
        <p:nvPicPr>
          <p:cNvPr id="5" name="Imagem 4" descr="dapr-stacked-color.png">
            <a:extLst>
              <a:ext uri="{FF2B5EF4-FFF2-40B4-BE49-F238E27FC236}">
                <a16:creationId xmlns:a16="http://schemas.microsoft.com/office/drawing/2014/main" id="{248116A6-D7B3-BC69-F746-27453752EA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58980" y="1668462"/>
            <a:ext cx="1680211" cy="125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72791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33058-67DD-359A-9DF3-294C765B2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dapr-stacked-color.png">
            <a:extLst>
              <a:ext uri="{FF2B5EF4-FFF2-40B4-BE49-F238E27FC236}">
                <a16:creationId xmlns:a16="http://schemas.microsoft.com/office/drawing/2014/main" id="{8181C4DC-606E-2598-7963-1882451CF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5861" y="2557773"/>
            <a:ext cx="3324752" cy="248857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0992C7D-D827-A67F-D0B8-6A52A5280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O projeto </a:t>
            </a:r>
            <a:r>
              <a:rPr lang="pt-BR" sz="4400" dirty="0" err="1">
                <a:solidFill>
                  <a:schemeClr val="accent3">
                    <a:lumMod val="75000"/>
                  </a:schemeClr>
                </a:solidFill>
              </a:rPr>
              <a:t>Dapr</a:t>
            </a:r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: uma visão geral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FD63947-A7ED-7BF5-39E0-9786F2B828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363662"/>
            <a:ext cx="7696198" cy="5032147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dirty="0" err="1">
                <a:solidFill>
                  <a:srgbClr val="494949"/>
                </a:solidFill>
              </a:rPr>
              <a:t>Distributed</a:t>
            </a:r>
            <a:r>
              <a:rPr lang="pt-BR" sz="3000" dirty="0">
                <a:solidFill>
                  <a:srgbClr val="494949"/>
                </a:solidFill>
              </a:rPr>
              <a:t> </a:t>
            </a:r>
            <a:r>
              <a:rPr lang="pt-BR" sz="3000" dirty="0" err="1">
                <a:solidFill>
                  <a:srgbClr val="494949"/>
                </a:solidFill>
              </a:rPr>
              <a:t>Application</a:t>
            </a:r>
            <a:r>
              <a:rPr lang="pt-BR" sz="3000" dirty="0">
                <a:solidFill>
                  <a:srgbClr val="494949"/>
                </a:solidFill>
              </a:rPr>
              <a:t> </a:t>
            </a:r>
            <a:r>
              <a:rPr lang="pt-BR" sz="3000" dirty="0" err="1">
                <a:solidFill>
                  <a:srgbClr val="494949"/>
                </a:solidFill>
              </a:rPr>
              <a:t>Runtime</a:t>
            </a:r>
            <a:br>
              <a:rPr lang="pt-BR" sz="3000" dirty="0">
                <a:solidFill>
                  <a:srgbClr val="494949"/>
                </a:solidFill>
              </a:rPr>
            </a:br>
            <a:r>
              <a:rPr lang="pt-BR" sz="3000" dirty="0">
                <a:solidFill>
                  <a:srgbClr val="494949"/>
                </a:solidFill>
                <a:hlinkClick r:id="rId4"/>
              </a:rPr>
              <a:t>https://dapr.io/</a:t>
            </a:r>
            <a:br>
              <a:rPr lang="pt-BR" sz="3000" dirty="0">
                <a:solidFill>
                  <a:srgbClr val="494949"/>
                </a:solidFill>
              </a:rPr>
            </a:br>
            <a:endParaRPr lang="pt-BR" sz="30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b="1" dirty="0">
                <a:solidFill>
                  <a:srgbClr val="494949"/>
                </a:solidFill>
              </a:rPr>
              <a:t>Open </a:t>
            </a:r>
            <a:r>
              <a:rPr lang="pt-BR" sz="3000" b="1" dirty="0" err="1">
                <a:solidFill>
                  <a:srgbClr val="494949"/>
                </a:solidFill>
              </a:rPr>
              <a:t>source</a:t>
            </a:r>
            <a:r>
              <a:rPr lang="pt-BR" sz="3000" dirty="0">
                <a:solidFill>
                  <a:srgbClr val="494949"/>
                </a:solidFill>
              </a:rPr>
              <a:t>, </a:t>
            </a:r>
            <a:r>
              <a:rPr lang="pt-BR" sz="3000" b="1" dirty="0">
                <a:solidFill>
                  <a:srgbClr val="494949"/>
                </a:solidFill>
              </a:rPr>
              <a:t>multiplataforma</a:t>
            </a:r>
            <a:r>
              <a:rPr lang="pt-BR" sz="3000" dirty="0">
                <a:solidFill>
                  <a:srgbClr val="494949"/>
                </a:solidFill>
              </a:rPr>
              <a:t> e com status como </a:t>
            </a:r>
            <a:r>
              <a:rPr lang="pt-BR" sz="3000" b="1" dirty="0" err="1">
                <a:solidFill>
                  <a:srgbClr val="494949"/>
                </a:solidFill>
              </a:rPr>
              <a:t>Graduated</a:t>
            </a:r>
            <a:r>
              <a:rPr lang="pt-BR" sz="3000" dirty="0">
                <a:solidFill>
                  <a:srgbClr val="494949"/>
                </a:solidFill>
              </a:rPr>
              <a:t> – desde </a:t>
            </a:r>
            <a:r>
              <a:rPr lang="pt-BR" sz="3000" b="1" dirty="0">
                <a:solidFill>
                  <a:srgbClr val="494949"/>
                </a:solidFill>
              </a:rPr>
              <a:t>Outubro/2024</a:t>
            </a:r>
            <a:r>
              <a:rPr lang="pt-BR" sz="3000" dirty="0">
                <a:solidFill>
                  <a:srgbClr val="494949"/>
                </a:solidFill>
              </a:rPr>
              <a:t> – na </a:t>
            </a:r>
            <a:r>
              <a:rPr lang="pt-BR" sz="3000" b="1" dirty="0">
                <a:solidFill>
                  <a:srgbClr val="494949"/>
                </a:solidFill>
              </a:rPr>
              <a:t>CNCF (Cloud </a:t>
            </a:r>
            <a:r>
              <a:rPr lang="pt-BR" sz="3000" b="1" dirty="0" err="1">
                <a:solidFill>
                  <a:srgbClr val="494949"/>
                </a:solidFill>
              </a:rPr>
              <a:t>Native</a:t>
            </a:r>
            <a:r>
              <a:rPr lang="pt-BR" sz="3000" b="1" dirty="0">
                <a:solidFill>
                  <a:srgbClr val="494949"/>
                </a:solidFill>
              </a:rPr>
              <a:t> </a:t>
            </a:r>
            <a:r>
              <a:rPr lang="pt-BR" sz="3000" b="1" dirty="0" err="1">
                <a:solidFill>
                  <a:srgbClr val="494949"/>
                </a:solidFill>
              </a:rPr>
              <a:t>Computing</a:t>
            </a:r>
            <a:r>
              <a:rPr lang="pt-BR" sz="3000" b="1" dirty="0">
                <a:solidFill>
                  <a:srgbClr val="494949"/>
                </a:solidFill>
              </a:rPr>
              <a:t> Foundation)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0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dirty="0">
                <a:solidFill>
                  <a:srgbClr val="494949"/>
                </a:solidFill>
              </a:rPr>
              <a:t>Framework com </a:t>
            </a:r>
            <a:r>
              <a:rPr lang="pt-BR" sz="3000" b="1" dirty="0">
                <a:solidFill>
                  <a:srgbClr val="494949"/>
                </a:solidFill>
              </a:rPr>
              <a:t>Building </a:t>
            </a:r>
            <a:r>
              <a:rPr lang="pt-BR" sz="3000" b="1" dirty="0" err="1">
                <a:solidFill>
                  <a:srgbClr val="494949"/>
                </a:solidFill>
              </a:rPr>
              <a:t>blocks</a:t>
            </a:r>
            <a:r>
              <a:rPr lang="pt-BR" sz="3000" dirty="0">
                <a:solidFill>
                  <a:srgbClr val="494949"/>
                </a:solidFill>
              </a:rPr>
              <a:t> para a construção de </a:t>
            </a:r>
            <a:r>
              <a:rPr lang="pt-BR" sz="3000" dirty="0" err="1">
                <a:solidFill>
                  <a:srgbClr val="494949"/>
                </a:solidFill>
              </a:rPr>
              <a:t>Microservices</a:t>
            </a:r>
            <a:r>
              <a:rPr lang="pt-BR" sz="3000" dirty="0">
                <a:solidFill>
                  <a:srgbClr val="494949"/>
                </a:solidFill>
              </a:rPr>
              <a:t> e aplicações distribuídas</a:t>
            </a:r>
          </a:p>
        </p:txBody>
      </p:sp>
    </p:spTree>
    <p:extLst>
      <p:ext uri="{BB962C8B-B14F-4D97-AF65-F5344CB8AC3E}">
        <p14:creationId xmlns:p14="http://schemas.microsoft.com/office/powerpoint/2010/main" val="18920154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BB661-3772-B66D-8A84-68081FBBE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dapr-stacked-color.png">
            <a:extLst>
              <a:ext uri="{FF2B5EF4-FFF2-40B4-BE49-F238E27FC236}">
                <a16:creationId xmlns:a16="http://schemas.microsoft.com/office/drawing/2014/main" id="{B2D212FA-7129-F52B-17DB-14A471E17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5861" y="2557773"/>
            <a:ext cx="3324752" cy="248857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8F8223F-8823-13BB-8067-F3D484599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O projeto </a:t>
            </a:r>
            <a:r>
              <a:rPr lang="pt-BR" sz="4400" dirty="0" err="1">
                <a:solidFill>
                  <a:schemeClr val="accent3">
                    <a:lumMod val="75000"/>
                  </a:schemeClr>
                </a:solidFill>
              </a:rPr>
              <a:t>Dapr</a:t>
            </a:r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: uma visão geral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FF19F2D-6FAA-8079-B052-634AD46731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363662"/>
            <a:ext cx="7696198" cy="5539978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dirty="0">
                <a:solidFill>
                  <a:srgbClr val="494949"/>
                </a:solidFill>
              </a:rPr>
              <a:t>Ambientes baseados em </a:t>
            </a:r>
            <a:r>
              <a:rPr lang="pt-BR" sz="3000" b="1" dirty="0" err="1">
                <a:solidFill>
                  <a:srgbClr val="494949"/>
                </a:solidFill>
              </a:rPr>
              <a:t>Kubernetes</a:t>
            </a:r>
            <a:r>
              <a:rPr lang="pt-BR" sz="3000" dirty="0">
                <a:solidFill>
                  <a:srgbClr val="494949"/>
                </a:solidFill>
              </a:rPr>
              <a:t> ou </a:t>
            </a:r>
            <a:r>
              <a:rPr lang="pt-BR" sz="3000" b="1" dirty="0">
                <a:solidFill>
                  <a:srgbClr val="494949"/>
                </a:solidFill>
              </a:rPr>
              <a:t>máquinas-virtuais</a:t>
            </a:r>
            <a:r>
              <a:rPr lang="pt-BR" sz="3000" dirty="0">
                <a:solidFill>
                  <a:srgbClr val="494949"/>
                </a:solidFill>
              </a:rPr>
              <a:t> (</a:t>
            </a:r>
            <a:r>
              <a:rPr lang="pt-BR" sz="3000" b="1" dirty="0">
                <a:solidFill>
                  <a:srgbClr val="494949"/>
                </a:solidFill>
              </a:rPr>
              <a:t>Self-</a:t>
            </a:r>
            <a:r>
              <a:rPr lang="pt-BR" sz="3000" b="1" dirty="0" err="1">
                <a:solidFill>
                  <a:srgbClr val="494949"/>
                </a:solidFill>
              </a:rPr>
              <a:t>hosted</a:t>
            </a:r>
            <a:r>
              <a:rPr lang="pt-BR" sz="3000" b="1" dirty="0">
                <a:solidFill>
                  <a:srgbClr val="494949"/>
                </a:solidFill>
              </a:rPr>
              <a:t> </a:t>
            </a:r>
            <a:r>
              <a:rPr lang="pt-BR" sz="3000" b="1" dirty="0" err="1">
                <a:solidFill>
                  <a:srgbClr val="494949"/>
                </a:solidFill>
              </a:rPr>
              <a:t>mode</a:t>
            </a:r>
            <a:r>
              <a:rPr lang="pt-BR" sz="3000" dirty="0">
                <a:solidFill>
                  <a:srgbClr val="494949"/>
                </a:solidFill>
              </a:rPr>
              <a:t>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0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dirty="0">
                <a:solidFill>
                  <a:srgbClr val="494949"/>
                </a:solidFill>
              </a:rPr>
              <a:t>O suporte a </a:t>
            </a:r>
            <a:r>
              <a:rPr lang="pt-BR" sz="3000" b="1" dirty="0" err="1">
                <a:solidFill>
                  <a:srgbClr val="494949"/>
                </a:solidFill>
              </a:rPr>
              <a:t>Kubernetes</a:t>
            </a:r>
            <a:r>
              <a:rPr lang="pt-BR" sz="3000" dirty="0">
                <a:solidFill>
                  <a:srgbClr val="494949"/>
                </a:solidFill>
              </a:rPr>
              <a:t> permite que implementações em </a:t>
            </a:r>
            <a:r>
              <a:rPr lang="pt-BR" sz="3000" b="1" dirty="0" err="1">
                <a:solidFill>
                  <a:srgbClr val="494949"/>
                </a:solidFill>
              </a:rPr>
              <a:t>Dapr</a:t>
            </a:r>
            <a:r>
              <a:rPr lang="pt-BR" sz="3000" b="1" dirty="0">
                <a:solidFill>
                  <a:srgbClr val="494949"/>
                </a:solidFill>
              </a:rPr>
              <a:t> </a:t>
            </a:r>
            <a:r>
              <a:rPr lang="pt-BR" sz="3000" dirty="0">
                <a:solidFill>
                  <a:srgbClr val="494949"/>
                </a:solidFill>
              </a:rPr>
              <a:t>possam ser projetadas para </a:t>
            </a:r>
            <a:r>
              <a:rPr lang="pt-BR" sz="3000" b="1" dirty="0">
                <a:solidFill>
                  <a:srgbClr val="494949"/>
                </a:solidFill>
              </a:rPr>
              <a:t>qualquer nuvem</a:t>
            </a:r>
            <a:r>
              <a:rPr lang="pt-BR" sz="3000" dirty="0">
                <a:solidFill>
                  <a:srgbClr val="494949"/>
                </a:solidFill>
              </a:rPr>
              <a:t> ou, mesmo, </a:t>
            </a:r>
            <a:r>
              <a:rPr lang="pt-BR" sz="3000" b="1" dirty="0">
                <a:solidFill>
                  <a:srgbClr val="494949"/>
                </a:solidFill>
              </a:rPr>
              <a:t>ambientes </a:t>
            </a:r>
            <a:r>
              <a:rPr lang="pt-BR" sz="3000" b="1" dirty="0" err="1">
                <a:solidFill>
                  <a:srgbClr val="494949"/>
                </a:solidFill>
              </a:rPr>
              <a:t>on-premise</a:t>
            </a:r>
            <a:endParaRPr lang="pt-BR" sz="30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0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000" dirty="0">
                <a:solidFill>
                  <a:srgbClr val="494949"/>
                </a:solidFill>
              </a:rPr>
              <a:t>Soluções </a:t>
            </a:r>
            <a:r>
              <a:rPr lang="pt-BR" sz="3000" dirty="0" err="1">
                <a:solidFill>
                  <a:srgbClr val="494949"/>
                </a:solidFill>
              </a:rPr>
              <a:t>serverless</a:t>
            </a:r>
            <a:r>
              <a:rPr lang="pt-BR" sz="3000" dirty="0">
                <a:solidFill>
                  <a:srgbClr val="494949"/>
                </a:solidFill>
              </a:rPr>
              <a:t> como </a:t>
            </a:r>
            <a:r>
              <a:rPr lang="pt-BR" sz="3000" b="1" dirty="0">
                <a:solidFill>
                  <a:srgbClr val="494949"/>
                </a:solidFill>
              </a:rPr>
              <a:t>Azure Container Apps</a:t>
            </a:r>
            <a:r>
              <a:rPr lang="pt-BR" sz="3000" dirty="0">
                <a:solidFill>
                  <a:srgbClr val="494949"/>
                </a:solidFill>
              </a:rPr>
              <a:t> e </a:t>
            </a:r>
            <a:r>
              <a:rPr lang="pt-BR" sz="3000" b="1" dirty="0">
                <a:solidFill>
                  <a:srgbClr val="494949"/>
                </a:solidFill>
              </a:rPr>
              <a:t>Azure </a:t>
            </a:r>
            <a:r>
              <a:rPr lang="pt-BR" sz="3000" b="1" dirty="0" err="1">
                <a:solidFill>
                  <a:srgbClr val="494949"/>
                </a:solidFill>
              </a:rPr>
              <a:t>Functions</a:t>
            </a:r>
            <a:r>
              <a:rPr lang="pt-BR" sz="3000" dirty="0">
                <a:solidFill>
                  <a:srgbClr val="494949"/>
                </a:solidFill>
              </a:rPr>
              <a:t> também possuem integrações</a:t>
            </a:r>
            <a:br>
              <a:rPr lang="pt-BR" sz="3000" dirty="0">
                <a:solidFill>
                  <a:srgbClr val="494949"/>
                </a:solidFill>
              </a:rPr>
            </a:br>
            <a:endParaRPr lang="pt-BR" sz="3000" dirty="0">
              <a:solidFill>
                <a:srgbClr val="49494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67406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11AE9-D22D-197A-5663-F8BD21003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dapr-stacked-color.png">
            <a:extLst>
              <a:ext uri="{FF2B5EF4-FFF2-40B4-BE49-F238E27FC236}">
                <a16:creationId xmlns:a16="http://schemas.microsoft.com/office/drawing/2014/main" id="{419CAD83-9D17-7E06-EA30-0911A89BC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5861" y="2557773"/>
            <a:ext cx="3324752" cy="248857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C0E053D-82B1-B8D2-78B6-E3E45A93D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O projeto </a:t>
            </a:r>
            <a:r>
              <a:rPr lang="pt-BR" sz="4400" dirty="0" err="1">
                <a:solidFill>
                  <a:schemeClr val="accent3">
                    <a:lumMod val="75000"/>
                  </a:schemeClr>
                </a:solidFill>
              </a:rPr>
              <a:t>Dapr</a:t>
            </a:r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: uma visão geral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2F39B50-B3E0-2209-A622-E70E266B91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363662"/>
            <a:ext cx="7696198" cy="5346079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600" b="1" dirty="0">
                <a:solidFill>
                  <a:srgbClr val="494949"/>
                </a:solidFill>
              </a:rPr>
              <a:t>Building </a:t>
            </a:r>
            <a:r>
              <a:rPr lang="pt-BR" sz="2600" b="1" dirty="0" err="1">
                <a:solidFill>
                  <a:srgbClr val="494949"/>
                </a:solidFill>
              </a:rPr>
              <a:t>blocks</a:t>
            </a:r>
            <a:r>
              <a:rPr lang="pt-BR" sz="2600" dirty="0">
                <a:solidFill>
                  <a:srgbClr val="494949"/>
                </a:solidFill>
              </a:rPr>
              <a:t> são agrupados em um </a:t>
            </a:r>
            <a:r>
              <a:rPr lang="pt-BR" sz="2600" b="1" dirty="0">
                <a:solidFill>
                  <a:srgbClr val="494949"/>
                </a:solidFill>
              </a:rPr>
              <a:t>sidecar </a:t>
            </a:r>
            <a:r>
              <a:rPr lang="pt-BR" sz="2600" dirty="0">
                <a:solidFill>
                  <a:srgbClr val="494949"/>
                </a:solidFill>
              </a:rPr>
              <a:t>para a aplicação, de forma a simplificar a interação com serviços de apoio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6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rgbClr val="494949"/>
                </a:solidFill>
              </a:rPr>
              <a:t>A configuração dos </a:t>
            </a:r>
            <a:r>
              <a:rPr lang="pt-BR" sz="2600" b="1" dirty="0" err="1">
                <a:solidFill>
                  <a:srgbClr val="494949"/>
                </a:solidFill>
              </a:rPr>
              <a:t>building</a:t>
            </a:r>
            <a:r>
              <a:rPr lang="pt-BR" sz="2600" b="1" dirty="0">
                <a:solidFill>
                  <a:srgbClr val="494949"/>
                </a:solidFill>
              </a:rPr>
              <a:t> </a:t>
            </a:r>
            <a:r>
              <a:rPr lang="pt-BR" sz="2600" b="1" dirty="0" err="1">
                <a:solidFill>
                  <a:srgbClr val="494949"/>
                </a:solidFill>
              </a:rPr>
              <a:t>blocks</a:t>
            </a:r>
            <a:r>
              <a:rPr lang="pt-BR" sz="2600" b="1" dirty="0">
                <a:solidFill>
                  <a:srgbClr val="494949"/>
                </a:solidFill>
              </a:rPr>
              <a:t> </a:t>
            </a:r>
            <a:r>
              <a:rPr lang="pt-BR" sz="2600" dirty="0">
                <a:solidFill>
                  <a:srgbClr val="494949"/>
                </a:solidFill>
              </a:rPr>
              <a:t>pode ser feita via </a:t>
            </a:r>
            <a:r>
              <a:rPr lang="pt-BR" sz="2600" b="1" dirty="0">
                <a:solidFill>
                  <a:srgbClr val="494949"/>
                </a:solidFill>
              </a:rPr>
              <a:t>arquivos YAML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6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600" b="1" dirty="0" err="1">
                <a:solidFill>
                  <a:srgbClr val="494949"/>
                </a:solidFill>
              </a:rPr>
              <a:t>Dapr</a:t>
            </a:r>
            <a:r>
              <a:rPr lang="pt-BR" sz="2600" b="1" dirty="0">
                <a:solidFill>
                  <a:srgbClr val="494949"/>
                </a:solidFill>
              </a:rPr>
              <a:t> CLI </a:t>
            </a:r>
            <a:r>
              <a:rPr lang="pt-BR" sz="2600" dirty="0">
                <a:solidFill>
                  <a:srgbClr val="494949"/>
                </a:solidFill>
              </a:rPr>
              <a:t>como ferramenta de desenvolvimento e execução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6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600" dirty="0">
                <a:solidFill>
                  <a:srgbClr val="494949"/>
                </a:solidFill>
              </a:rPr>
              <a:t>A comunicação entre aplicação e sidecar usa os protocolos </a:t>
            </a:r>
            <a:r>
              <a:rPr lang="pt-BR" sz="2600" b="1" dirty="0" err="1">
                <a:solidFill>
                  <a:srgbClr val="494949"/>
                </a:solidFill>
              </a:rPr>
              <a:t>gRPC</a:t>
            </a:r>
            <a:r>
              <a:rPr lang="pt-BR" sz="2600" b="1" dirty="0">
                <a:solidFill>
                  <a:srgbClr val="494949"/>
                </a:solidFill>
              </a:rPr>
              <a:t> </a:t>
            </a:r>
            <a:r>
              <a:rPr lang="pt-BR" sz="2600" dirty="0">
                <a:solidFill>
                  <a:srgbClr val="494949"/>
                </a:solidFill>
              </a:rPr>
              <a:t>e </a:t>
            </a:r>
            <a:r>
              <a:rPr lang="pt-BR" sz="2600" b="1" dirty="0">
                <a:solidFill>
                  <a:srgbClr val="494949"/>
                </a:solidFill>
              </a:rPr>
              <a:t>HTTP</a:t>
            </a:r>
            <a:br>
              <a:rPr lang="pt-BR" sz="2600" dirty="0">
                <a:solidFill>
                  <a:srgbClr val="494949"/>
                </a:solidFill>
              </a:rPr>
            </a:br>
            <a:endParaRPr lang="pt-BR" sz="2600" dirty="0">
              <a:solidFill>
                <a:srgbClr val="49494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564411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DB905-A8C7-661B-A8BC-964AA2D3A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F9536C-FE36-985F-A662-270AB7116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O projeto </a:t>
            </a:r>
            <a:r>
              <a:rPr lang="pt-BR" sz="4400" dirty="0" err="1">
                <a:solidFill>
                  <a:schemeClr val="accent3">
                    <a:lumMod val="75000"/>
                  </a:schemeClr>
                </a:solidFill>
              </a:rPr>
              <a:t>Dapr</a:t>
            </a:r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: Building </a:t>
            </a:r>
            <a:r>
              <a:rPr lang="pt-BR" sz="4400" dirty="0" err="1">
                <a:solidFill>
                  <a:schemeClr val="accent3">
                    <a:lumMod val="75000"/>
                  </a:schemeClr>
                </a:solidFill>
              </a:rPr>
              <a:t>blocks</a:t>
            </a:r>
            <a:endParaRPr lang="pt-BR" sz="44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7" name="Imagem 6" descr="https://docs.dapr.io/images/building_blocks.png">
            <a:extLst>
              <a:ext uri="{FF2B5EF4-FFF2-40B4-BE49-F238E27FC236}">
                <a16:creationId xmlns:a16="http://schemas.microsoft.com/office/drawing/2014/main" id="{81C526BD-97A9-EF9C-4B64-695F4986F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905" y="1351790"/>
            <a:ext cx="10075802" cy="516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87538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945EB-3F86-DC2A-E475-15ED3C3CF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6F7360-0C40-B525-2A6F-5F1326A5A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>
                <a:solidFill>
                  <a:schemeClr val="accent3">
                    <a:lumMod val="75000"/>
                  </a:schemeClr>
                </a:solidFill>
              </a:rPr>
              <a:t>O projeto </a:t>
            </a:r>
            <a:r>
              <a:rPr lang="pt-BR" sz="4000" dirty="0" err="1">
                <a:solidFill>
                  <a:schemeClr val="accent3">
                    <a:lumMod val="75000"/>
                  </a:schemeClr>
                </a:solidFill>
              </a:rPr>
              <a:t>Dapr</a:t>
            </a:r>
            <a:r>
              <a:rPr lang="pt-BR" sz="4000" dirty="0">
                <a:solidFill>
                  <a:schemeClr val="accent3">
                    <a:lumMod val="75000"/>
                  </a:schemeClr>
                </a:solidFill>
              </a:rPr>
              <a:t>: </a:t>
            </a:r>
            <a:r>
              <a:rPr lang="pt-BR" sz="4000" dirty="0" err="1">
                <a:solidFill>
                  <a:schemeClr val="accent3">
                    <a:lumMod val="75000"/>
                  </a:schemeClr>
                </a:solidFill>
              </a:rPr>
              <a:t>Conversation</a:t>
            </a:r>
            <a:r>
              <a:rPr lang="pt-BR" sz="4000" dirty="0">
                <a:solidFill>
                  <a:schemeClr val="accent3">
                    <a:lumMod val="75000"/>
                  </a:schemeClr>
                </a:solidFill>
              </a:rPr>
              <a:t> (</a:t>
            </a:r>
            <a:r>
              <a:rPr lang="pt-BR" sz="4000" dirty="0" err="1">
                <a:solidFill>
                  <a:schemeClr val="accent3">
                    <a:lumMod val="75000"/>
                  </a:schemeClr>
                </a:solidFill>
              </a:rPr>
              <a:t>IAs</a:t>
            </a:r>
            <a:r>
              <a:rPr lang="pt-BR" sz="4000" dirty="0">
                <a:solidFill>
                  <a:schemeClr val="accent3">
                    <a:lumMod val="75000"/>
                  </a:schemeClr>
                </a:solidFill>
              </a:rPr>
              <a:t> Generativas)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307F1F1-0B43-10E8-EC76-531F9DAB2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437" y="1074817"/>
            <a:ext cx="8467725" cy="5624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87363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4E25F-6024-895A-D593-5218743B7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dapr-stacked-color.png">
            <a:extLst>
              <a:ext uri="{FF2B5EF4-FFF2-40B4-BE49-F238E27FC236}">
                <a16:creationId xmlns:a16="http://schemas.microsoft.com/office/drawing/2014/main" id="{EB52A939-3F6D-F604-9D37-548BDC2AC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5861" y="2557773"/>
            <a:ext cx="3324752" cy="248857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6167591-11A1-1D1B-3154-6AA95D35C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O projeto </a:t>
            </a:r>
            <a:r>
              <a:rPr lang="pt-BR" sz="4400" dirty="0" err="1">
                <a:solidFill>
                  <a:schemeClr val="accent3">
                    <a:lumMod val="75000"/>
                  </a:schemeClr>
                </a:solidFill>
              </a:rPr>
              <a:t>Dapr</a:t>
            </a:r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: benefícios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CD2E34-CB19-B287-3304-4D8CC6DDBB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516063"/>
            <a:ext cx="7315198" cy="4959819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900" dirty="0">
                <a:solidFill>
                  <a:srgbClr val="494949"/>
                </a:solidFill>
              </a:rPr>
              <a:t>Um </a:t>
            </a:r>
            <a:r>
              <a:rPr lang="pt-BR" sz="2900" b="1" dirty="0">
                <a:solidFill>
                  <a:srgbClr val="494949"/>
                </a:solidFill>
              </a:rPr>
              <a:t>maior foco na lógica do negócio </a:t>
            </a:r>
            <a:r>
              <a:rPr lang="pt-BR" sz="2900" dirty="0">
                <a:solidFill>
                  <a:srgbClr val="494949"/>
                </a:solidFill>
              </a:rPr>
              <a:t>durante a implementação de soluções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9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900" dirty="0">
                <a:solidFill>
                  <a:srgbClr val="494949"/>
                </a:solidFill>
              </a:rPr>
              <a:t>Suporte a múltiplas </a:t>
            </a:r>
            <a:r>
              <a:rPr lang="pt-BR" sz="2900" dirty="0" err="1">
                <a:solidFill>
                  <a:srgbClr val="494949"/>
                </a:solidFill>
              </a:rPr>
              <a:t>stacks</a:t>
            </a:r>
            <a:r>
              <a:rPr lang="pt-BR" sz="2900" dirty="0">
                <a:solidFill>
                  <a:srgbClr val="494949"/>
                </a:solidFill>
              </a:rPr>
              <a:t>: </a:t>
            </a:r>
            <a:r>
              <a:rPr lang="pt-BR" sz="2900" b="1" dirty="0">
                <a:solidFill>
                  <a:srgbClr val="494949"/>
                </a:solidFill>
              </a:rPr>
              <a:t>.NET, Java, Python, </a:t>
            </a:r>
            <a:r>
              <a:rPr lang="pt-BR" sz="2900" b="1" dirty="0" err="1">
                <a:solidFill>
                  <a:srgbClr val="494949"/>
                </a:solidFill>
              </a:rPr>
              <a:t>JavaScript</a:t>
            </a:r>
            <a:r>
              <a:rPr lang="pt-BR" sz="2900" b="1" dirty="0">
                <a:solidFill>
                  <a:srgbClr val="494949"/>
                </a:solidFill>
              </a:rPr>
              <a:t>/Node.js, Go, PHP, C++, </a:t>
            </a:r>
            <a:r>
              <a:rPr lang="pt-BR" sz="2900" b="1" dirty="0" err="1">
                <a:solidFill>
                  <a:srgbClr val="494949"/>
                </a:solidFill>
              </a:rPr>
              <a:t>Rust</a:t>
            </a:r>
            <a:endParaRPr lang="pt-BR" sz="29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9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900" dirty="0">
                <a:solidFill>
                  <a:srgbClr val="494949"/>
                </a:solidFill>
              </a:rPr>
              <a:t>Fornece uma </a:t>
            </a:r>
            <a:r>
              <a:rPr lang="pt-BR" sz="2900" b="1" dirty="0">
                <a:solidFill>
                  <a:srgbClr val="494949"/>
                </a:solidFill>
              </a:rPr>
              <a:t>padronização </a:t>
            </a:r>
            <a:r>
              <a:rPr lang="pt-BR" sz="2900" dirty="0">
                <a:solidFill>
                  <a:srgbClr val="494949"/>
                </a:solidFill>
              </a:rPr>
              <a:t>para times que utilizam várias linguagens/plataformas de desenvolvimento</a:t>
            </a:r>
          </a:p>
        </p:txBody>
      </p:sp>
    </p:spTree>
    <p:extLst>
      <p:ext uri="{BB962C8B-B14F-4D97-AF65-F5344CB8AC3E}">
        <p14:creationId xmlns:p14="http://schemas.microsoft.com/office/powerpoint/2010/main" val="2163189098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25643-1325-E089-DB72-5C28EF716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dapr-stacked-color.png">
            <a:extLst>
              <a:ext uri="{FF2B5EF4-FFF2-40B4-BE49-F238E27FC236}">
                <a16:creationId xmlns:a16="http://schemas.microsoft.com/office/drawing/2014/main" id="{C4AD1B9B-B22A-CB3E-6F8D-A63934F3C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5861" y="2557773"/>
            <a:ext cx="3324752" cy="248857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B599F61-187E-955C-6D5C-55AFF2A06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O projeto </a:t>
            </a:r>
            <a:r>
              <a:rPr lang="pt-BR" sz="4400" dirty="0" err="1">
                <a:solidFill>
                  <a:schemeClr val="accent3">
                    <a:lumMod val="75000"/>
                  </a:schemeClr>
                </a:solidFill>
              </a:rPr>
              <a:t>Dapr</a:t>
            </a:r>
            <a:r>
              <a:rPr lang="pt-BR" sz="4400" dirty="0">
                <a:solidFill>
                  <a:schemeClr val="accent3">
                    <a:lumMod val="75000"/>
                  </a:schemeClr>
                </a:solidFill>
              </a:rPr>
              <a:t>: benefícios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56554BA-4F5C-8083-06F7-2D94909B5F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9" y="1516063"/>
            <a:ext cx="7315198" cy="4558171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900" b="1" dirty="0">
                <a:solidFill>
                  <a:srgbClr val="494949"/>
                </a:solidFill>
              </a:rPr>
              <a:t>Produtividade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9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900" b="1" dirty="0">
                <a:solidFill>
                  <a:srgbClr val="494949"/>
                </a:solidFill>
              </a:rPr>
              <a:t>Integração agnóstica </a:t>
            </a:r>
            <a:r>
              <a:rPr lang="pt-BR" sz="2900" dirty="0">
                <a:solidFill>
                  <a:srgbClr val="494949"/>
                </a:solidFill>
              </a:rPr>
              <a:t>com serviços de apoio, </a:t>
            </a:r>
            <a:r>
              <a:rPr lang="pt-BR" sz="2900" b="1" dirty="0">
                <a:solidFill>
                  <a:srgbClr val="494949"/>
                </a:solidFill>
              </a:rPr>
              <a:t>incluindo várias </a:t>
            </a:r>
            <a:r>
              <a:rPr lang="pt-BR" sz="2900" b="1" dirty="0" err="1">
                <a:solidFill>
                  <a:srgbClr val="494949"/>
                </a:solidFill>
              </a:rPr>
              <a:t>IAs</a:t>
            </a:r>
            <a:endParaRPr lang="pt-BR" sz="2900" b="1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900" dirty="0">
              <a:solidFill>
                <a:srgbClr val="494949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900" dirty="0">
                <a:solidFill>
                  <a:srgbClr val="494949"/>
                </a:solidFill>
              </a:rPr>
              <a:t>Uma alternativa bem interessante para </a:t>
            </a:r>
            <a:r>
              <a:rPr lang="pt-BR" sz="2900" b="1" dirty="0">
                <a:solidFill>
                  <a:srgbClr val="494949"/>
                </a:solidFill>
              </a:rPr>
              <a:t>desenvolvimento de produtos</a:t>
            </a:r>
            <a:r>
              <a:rPr lang="pt-BR" sz="2900" dirty="0">
                <a:solidFill>
                  <a:srgbClr val="494949"/>
                </a:solidFill>
              </a:rPr>
              <a:t> e </a:t>
            </a:r>
            <a:r>
              <a:rPr lang="pt-BR" sz="2900" b="1" dirty="0">
                <a:solidFill>
                  <a:srgbClr val="494949"/>
                </a:solidFill>
              </a:rPr>
              <a:t>soluções SaaS (Software as a Service)</a:t>
            </a:r>
            <a:r>
              <a:rPr lang="pt-BR" sz="2900" dirty="0">
                <a:solidFill>
                  <a:srgbClr val="494949"/>
                </a:solidFill>
              </a:rPr>
              <a:t> que ofereçam o suporte a múltiplos serviços/tecnologias de apoio similares</a:t>
            </a:r>
          </a:p>
        </p:txBody>
      </p:sp>
    </p:spTree>
    <p:extLst>
      <p:ext uri="{BB962C8B-B14F-4D97-AF65-F5344CB8AC3E}">
        <p14:creationId xmlns:p14="http://schemas.microsoft.com/office/powerpoint/2010/main" val="279935292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1E85D-263C-3C80-8BED-DD8321AF4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EF94C3-8BE8-C5F2-9E16-2ABE55CCB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3">
                    <a:lumMod val="75000"/>
                  </a:schemeClr>
                </a:solidFill>
                <a:cs typeface="Segoe UI"/>
              </a:rPr>
              <a:t>O que é um AI Gateway?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5627CA1-1460-0AB0-5B37-8B577DD250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0438" y="1211262"/>
            <a:ext cx="7041271" cy="5527667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  <a:cs typeface="Segoe UI Light"/>
              </a:rPr>
              <a:t>Ponto central de acesso aos modelos de IA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  <a:cs typeface="Segoe UI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  <a:cs typeface="Segoe UI Light"/>
              </a:rPr>
              <a:t>Centraliza chamadas para diferentes provedores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  <a:cs typeface="Segoe UI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  <a:cs typeface="Segoe UI Light"/>
              </a:rPr>
              <a:t>Abstrai detalhes dos modelos e APIs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  <a:cs typeface="Segoe UI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  <a:cs typeface="Segoe UI Light"/>
              </a:rPr>
              <a:t>Aplica políticas antes das requisições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2800" dirty="0">
              <a:solidFill>
                <a:srgbClr val="494949"/>
              </a:solidFill>
              <a:cs typeface="Segoe UI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494949"/>
                </a:solidFill>
                <a:cs typeface="Segoe UI Light"/>
              </a:rPr>
              <a:t>Facilita o gerenciamento de aplicações de IA</a:t>
            </a:r>
            <a:endParaRPr lang="pt-BR" sz="2800" dirty="0">
              <a:solidFill>
                <a:srgbClr val="494949"/>
              </a:solidFill>
              <a:ea typeface="+mj-lt"/>
              <a:cs typeface="+mj-lt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6B62ECA9-2B62-0A15-DF6E-C1433B9D75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9593" y="2278062"/>
            <a:ext cx="1353644" cy="135364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65BF1A8C-A02D-F00A-DF3E-20E7420F42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3313" y="2440024"/>
            <a:ext cx="1268320" cy="1069503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CF6BBA66-BB0E-6ADF-34CC-0D5141620B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85613" y="3737890"/>
            <a:ext cx="1295400" cy="115993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8B48BDC3-0964-BA89-20D0-A64E960398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8803" y="2418239"/>
            <a:ext cx="1116140" cy="111614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1899A614-6837-6845-8EF9-8688CC99CB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3878" y="3722015"/>
            <a:ext cx="1191682" cy="119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709408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E135F-74A6-F54A-39D3-123BBAFFE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8E98CB-57B7-89DB-9D90-02264D59D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  <a:cs typeface="Segoe UI"/>
              </a:rPr>
              <a:t>Por que utilizar um AI Gateway?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F2219E8-BCC2-10B2-5567-09E35BB7C9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0438" y="1452102"/>
            <a:ext cx="7041271" cy="4407360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494949"/>
                </a:solidFill>
                <a:cs typeface="Segoe UI Light"/>
              </a:rPr>
              <a:t>Segurança</a:t>
            </a:r>
            <a:r>
              <a:rPr lang="pt-BR" sz="2800" dirty="0">
                <a:solidFill>
                  <a:srgbClr val="494949"/>
                </a:solidFill>
                <a:cs typeface="Segoe UI Light"/>
              </a:rPr>
              <a:t>: controle de acesso e proteção das APIs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494949"/>
                </a:solidFill>
                <a:cs typeface="Segoe UI Light"/>
              </a:rPr>
              <a:t>Governança</a:t>
            </a:r>
            <a:r>
              <a:rPr lang="pt-BR" sz="2800" dirty="0">
                <a:solidFill>
                  <a:srgbClr val="494949"/>
                </a:solidFill>
                <a:cs typeface="Segoe UI Light"/>
              </a:rPr>
              <a:t>: políticas centralizadas para uso de IA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1" dirty="0" err="1">
                <a:solidFill>
                  <a:srgbClr val="494949"/>
                </a:solidFill>
                <a:cs typeface="Segoe UI Light"/>
              </a:rPr>
              <a:t>Observabilidade</a:t>
            </a:r>
            <a:r>
              <a:rPr lang="pt-BR" sz="2800" dirty="0">
                <a:solidFill>
                  <a:srgbClr val="494949"/>
                </a:solidFill>
                <a:cs typeface="Segoe UI Light"/>
              </a:rPr>
              <a:t>: métricas, logs e rastreamento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494949"/>
                </a:solidFill>
                <a:cs typeface="Segoe UI Light"/>
              </a:rPr>
              <a:t>Custos</a:t>
            </a:r>
            <a:r>
              <a:rPr lang="pt-BR" sz="2800" dirty="0">
                <a:solidFill>
                  <a:srgbClr val="494949"/>
                </a:solidFill>
                <a:cs typeface="Segoe UI Light"/>
              </a:rPr>
              <a:t>: controle e acompanhamento do consumo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srgbClr val="494949"/>
                </a:solidFill>
                <a:cs typeface="Segoe UI Light"/>
              </a:rPr>
              <a:t>Flexibilidade</a:t>
            </a:r>
            <a:r>
              <a:rPr lang="pt-BR" sz="2800" dirty="0">
                <a:solidFill>
                  <a:srgbClr val="494949"/>
                </a:solidFill>
                <a:cs typeface="Segoe UI Light"/>
              </a:rPr>
              <a:t>: troca de modelos sem alterar aplicações</a:t>
            </a:r>
            <a:endParaRPr lang="pt-BR" sz="2800" dirty="0">
              <a:solidFill>
                <a:srgbClr val="494949"/>
              </a:solidFill>
              <a:ea typeface="+mj-lt"/>
              <a:cs typeface="+mj-lt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10BB5F5E-4353-41A9-DDEB-C83344C361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9593" y="2278062"/>
            <a:ext cx="1353644" cy="135364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D1CE2210-CDAC-89D3-8E77-3095A81F7A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3313" y="2440024"/>
            <a:ext cx="1268320" cy="1069503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BCEFE1DA-EBF1-581D-C2C6-CCC57FAB5D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85613" y="3737890"/>
            <a:ext cx="1295400" cy="115993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DC9C424A-D66F-C9A1-446F-ADCDFE3E01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8803" y="2418239"/>
            <a:ext cx="1116140" cy="111614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50D46F97-780B-2E32-7F6A-1D1A0ABA67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3878" y="3722015"/>
            <a:ext cx="1191682" cy="119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785497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49383-A317-E6F2-351C-083D1F08F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5F27B8-45EF-AA0B-A006-B6BF6B83E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3">
                    <a:lumMod val="75000"/>
                  </a:schemeClr>
                </a:solidFill>
                <a:cs typeface="Segoe UI"/>
              </a:rPr>
              <a:t>AI Gateways: algumas alternativas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171ED7-6540-1691-B382-DE0AB10F55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0438" y="1680499"/>
            <a:ext cx="7041271" cy="3797963"/>
          </a:xfrm>
        </p:spPr>
        <p:txBody>
          <a:bodyPr vert="horz" wrap="square" lIns="146304" tIns="91440" rIns="146304" bIns="9144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  <a:cs typeface="Segoe UI Light"/>
              </a:rPr>
              <a:t>APISIX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  <a:cs typeface="Segoe UI Light"/>
              </a:rPr>
              <a:t>Azure API Management (APIM)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  <a:cs typeface="Segoe UI Light"/>
              </a:rPr>
              <a:t>Azure AI Gateway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  <a:cs typeface="Segoe UI Light"/>
              </a:rPr>
              <a:t>Kong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 err="1">
                <a:solidFill>
                  <a:srgbClr val="494949"/>
                </a:solidFill>
                <a:cs typeface="Segoe UI Light"/>
              </a:rPr>
              <a:t>LiteLLM</a:t>
            </a:r>
            <a:endParaRPr lang="pt-BR" sz="3600" dirty="0">
              <a:solidFill>
                <a:srgbClr val="494949"/>
              </a:solidFill>
              <a:cs typeface="Segoe UI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494949"/>
                </a:solidFill>
                <a:cs typeface="Segoe UI Light"/>
              </a:rPr>
              <a:t>....</a:t>
            </a:r>
            <a:endParaRPr lang="pt-BR" sz="3600" dirty="0">
              <a:solidFill>
                <a:srgbClr val="494949"/>
              </a:solidFill>
              <a:ea typeface="+mj-lt"/>
              <a:cs typeface="+mj-lt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7B43EB62-7AB1-98AA-0A01-5544D7DC22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79593" y="2278062"/>
            <a:ext cx="1353644" cy="135364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42148CBC-F592-3664-9038-7F16A2BA24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33313" y="2440024"/>
            <a:ext cx="1268320" cy="1069503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C53A31EC-9A05-0C6F-A851-F3D7BC6BDD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85613" y="3737890"/>
            <a:ext cx="1295400" cy="115993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BF9145E6-9F6A-54A6-3C58-E6EEBD1F57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8803" y="2418239"/>
            <a:ext cx="1116140" cy="111614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91F6F536-8FEF-9A40-801D-89BFF1FEED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3878" y="3722015"/>
            <a:ext cx="1191682" cy="119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385631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https://apisix.apache.org/img/ai-gateway/hero.png">
            <a:extLst>
              <a:ext uri="{FF2B5EF4-FFF2-40B4-BE49-F238E27FC236}">
                <a16:creationId xmlns:a16="http://schemas.microsoft.com/office/drawing/2014/main" id="{524EC1E6-A321-4C12-705E-3334CEC2A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7" y="906462"/>
            <a:ext cx="11261656" cy="556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139690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BFD51-360A-DC13-919D-57373BC6F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https://apisix.apache.org/img/ai-gateway/architecture.png">
            <a:extLst>
              <a:ext uri="{FF2B5EF4-FFF2-40B4-BE49-F238E27FC236}">
                <a16:creationId xmlns:a16="http://schemas.microsoft.com/office/drawing/2014/main" id="{4D12A4E9-A55B-2233-934B-083707464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27" y="-95536"/>
            <a:ext cx="11536907" cy="721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23826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A6303-7DE3-E30F-D85E-B3E822950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>
            <a:extLst>
              <a:ext uri="{FF2B5EF4-FFF2-40B4-BE49-F238E27FC236}">
                <a16:creationId xmlns:a16="http://schemas.microsoft.com/office/drawing/2014/main" id="{025B87F9-5A47-DB1A-9E3F-9F2FCA1600DE}"/>
              </a:ext>
            </a:extLst>
          </p:cNvPr>
          <p:cNvGrpSpPr/>
          <p:nvPr/>
        </p:nvGrpSpPr>
        <p:grpSpPr>
          <a:xfrm>
            <a:off x="0" y="0"/>
            <a:ext cx="12436475" cy="7078662"/>
            <a:chOff x="0" y="5843723"/>
            <a:chExt cx="12436475" cy="1150802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0E3D746F-EAA3-BD7E-29E3-92DB26B5CED9}"/>
                </a:ext>
              </a:extLst>
            </p:cNvPr>
            <p:cNvSpPr/>
            <p:nvPr/>
          </p:nvSpPr>
          <p:spPr bwMode="auto">
            <a:xfrm>
              <a:off x="0" y="5854505"/>
              <a:ext cx="12436475" cy="1140020"/>
            </a:xfrm>
            <a:prstGeom prst="rect">
              <a:avLst/>
            </a:prstGeom>
            <a:solidFill>
              <a:srgbClr val="292929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30E2F8B7-2CDC-A19A-CAC5-D640DB718765}"/>
                </a:ext>
              </a:extLst>
            </p:cNvPr>
            <p:cNvSpPr/>
            <p:nvPr/>
          </p:nvSpPr>
          <p:spPr bwMode="auto">
            <a:xfrm>
              <a:off x="0" y="5843723"/>
              <a:ext cx="12436475" cy="10782"/>
            </a:xfrm>
            <a:prstGeom prst="rect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D3B55A6-CD15-7166-CBCD-B71E468BF5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0825" y="5169852"/>
            <a:ext cx="11934824" cy="627864"/>
          </a:xfrm>
        </p:spPr>
        <p:txBody>
          <a:bodyPr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ítulo 3">
            <a:extLst>
              <a:ext uri="{FF2B5EF4-FFF2-40B4-BE49-F238E27FC236}">
                <a16:creationId xmlns:a16="http://schemas.microsoft.com/office/drawing/2014/main" id="{B79747FB-B643-D53C-CD57-A492BD3FA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9837" y="982662"/>
            <a:ext cx="4876800" cy="2179058"/>
          </a:xfrm>
        </p:spPr>
        <p:txBody>
          <a:bodyPr/>
          <a:lstStyle/>
          <a:p>
            <a:pPr algn="ctr"/>
            <a:r>
              <a:rPr lang="pt-BR" dirty="0"/>
              <a:t>EXEMPLOS PRÁTICOS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B313213-140D-F8F9-C06B-211C1DEE9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705" y="3295320"/>
            <a:ext cx="2987064" cy="298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49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/>
          <p:cNvGrpSpPr/>
          <p:nvPr/>
        </p:nvGrpSpPr>
        <p:grpSpPr>
          <a:xfrm>
            <a:off x="0" y="0"/>
            <a:ext cx="12436475" cy="7078662"/>
            <a:chOff x="0" y="5843723"/>
            <a:chExt cx="12436475" cy="1150802"/>
          </a:xfrm>
        </p:grpSpPr>
        <p:sp>
          <p:nvSpPr>
            <p:cNvPr id="7" name="Retângulo 6"/>
            <p:cNvSpPr/>
            <p:nvPr/>
          </p:nvSpPr>
          <p:spPr bwMode="auto">
            <a:xfrm>
              <a:off x="0" y="5854505"/>
              <a:ext cx="12436475" cy="1140020"/>
            </a:xfrm>
            <a:prstGeom prst="rect">
              <a:avLst/>
            </a:prstGeom>
            <a:solidFill>
              <a:srgbClr val="292929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" name="Retângulo 7"/>
            <p:cNvSpPr/>
            <p:nvPr/>
          </p:nvSpPr>
          <p:spPr bwMode="auto">
            <a:xfrm>
              <a:off x="0" y="5843723"/>
              <a:ext cx="12436475" cy="10782"/>
            </a:xfrm>
            <a:prstGeom prst="rect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E4A19"/>
                </a:solidFill>
                <a:effectLst/>
                <a:uLnTx/>
                <a:uFillTx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50825" y="5169852"/>
            <a:ext cx="11934824" cy="627864"/>
          </a:xfrm>
        </p:spPr>
        <p:txBody>
          <a:bodyPr/>
          <a:lstStyle/>
          <a:p>
            <a:pPr algn="ctr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ítulo 3">
            <a:extLst>
              <a:ext uri="{FF2B5EF4-FFF2-40B4-BE49-F238E27FC236}">
                <a16:creationId xmlns:a16="http://schemas.microsoft.com/office/drawing/2014/main" id="{1581A68B-F4F2-4842-B63E-4808CD8AE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9837" y="1668462"/>
            <a:ext cx="4876800" cy="1181862"/>
          </a:xfrm>
        </p:spPr>
        <p:txBody>
          <a:bodyPr/>
          <a:lstStyle/>
          <a:p>
            <a:r>
              <a:rPr lang="pt-BR" dirty="0"/>
              <a:t>OBRIGADO!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92C074C-B0D8-EF5A-DFD4-DE60C4206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705" y="3192462"/>
            <a:ext cx="2987064" cy="298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679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5-50002_Ignite_Breakout_Template">
  <a:themeElements>
    <a:clrScheme name="Ignite 2016">
      <a:dk1>
        <a:srgbClr val="505050"/>
      </a:dk1>
      <a:lt1>
        <a:srgbClr val="FFFFFF"/>
      </a:lt1>
      <a:dk2>
        <a:srgbClr val="D83B01"/>
      </a:dk2>
      <a:lt2>
        <a:srgbClr val="F8F8F8"/>
      </a:lt2>
      <a:accent1>
        <a:srgbClr val="D83B01"/>
      </a:accent1>
      <a:accent2>
        <a:srgbClr val="0078D7"/>
      </a:accent2>
      <a:accent3>
        <a:srgbClr val="505050"/>
      </a:accent3>
      <a:accent4>
        <a:srgbClr val="D2D2D2"/>
      </a:accent4>
      <a:accent5>
        <a:srgbClr val="FFB900"/>
      </a:accent5>
      <a:accent6>
        <a:srgbClr val="FF8C0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5439">
                  <a:srgbClr val="F8F8F8"/>
                </a:gs>
                <a:gs pos="10000">
                  <a:srgbClr val="F8F8F8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Ignite_2016_16x9_Template.potx" id="{61D5EBA6-A23E-492C-8A07-E4BCB14E768B}" vid="{2C5385DD-25CC-4B4A-8E83-9D91F0EF820F}"/>
    </a:ext>
  </a:extLst>
</a:theme>
</file>

<file path=ppt/theme/theme2.xml><?xml version="1.0" encoding="utf-8"?>
<a:theme xmlns:a="http://schemas.openxmlformats.org/drawingml/2006/main" name="1_5-50002_Ignite_Breakout_Template">
  <a:themeElements>
    <a:clrScheme name="Ignite 2016">
      <a:dk1>
        <a:srgbClr val="505050"/>
      </a:dk1>
      <a:lt1>
        <a:srgbClr val="FFFFFF"/>
      </a:lt1>
      <a:dk2>
        <a:srgbClr val="D83B01"/>
      </a:dk2>
      <a:lt2>
        <a:srgbClr val="F8F8F8"/>
      </a:lt2>
      <a:accent1>
        <a:srgbClr val="D83B01"/>
      </a:accent1>
      <a:accent2>
        <a:srgbClr val="0078D7"/>
      </a:accent2>
      <a:accent3>
        <a:srgbClr val="505050"/>
      </a:accent3>
      <a:accent4>
        <a:srgbClr val="D2D2D2"/>
      </a:accent4>
      <a:accent5>
        <a:srgbClr val="FFB900"/>
      </a:accent5>
      <a:accent6>
        <a:srgbClr val="FF8C0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5439">
                  <a:srgbClr val="F8F8F8"/>
                </a:gs>
                <a:gs pos="10000">
                  <a:srgbClr val="F8F8F8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Ignite_2016_16x9_Template" id="{08B3FEDF-27CE-477E-A1F2-9805036CC047}" vid="{CD0BEC05-913A-4A4A-B174-12DECD18D25B}"/>
    </a:ext>
  </a:extLst>
</a:theme>
</file>

<file path=ppt/theme/theme3.xml><?xml version="1.0" encoding="utf-8"?>
<a:theme xmlns:a="http://schemas.openxmlformats.org/drawingml/2006/main" name="5-30721_Build_2016_Template_Light">
  <a:themeElements>
    <a:clrScheme name="Build 2016">
      <a:dk1>
        <a:srgbClr val="505050"/>
      </a:dk1>
      <a:lt1>
        <a:srgbClr val="FFFFFF"/>
      </a:lt1>
      <a:dk2>
        <a:srgbClr val="0078D7"/>
      </a:dk2>
      <a:lt2>
        <a:srgbClr val="F8F8F8"/>
      </a:lt2>
      <a:accent1>
        <a:srgbClr val="0078D7"/>
      </a:accent1>
      <a:accent2>
        <a:srgbClr val="002050"/>
      </a:accent2>
      <a:accent3>
        <a:srgbClr val="00BCF2"/>
      </a:accent3>
      <a:accent4>
        <a:srgbClr val="D2D2D2"/>
      </a:accent4>
      <a:accent5>
        <a:srgbClr val="737373"/>
      </a:accent5>
      <a:accent6>
        <a:srgbClr val="50505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Build_2016_16x9_Template.potx" id="{2D9F1654-7A66-4699-829C-201E10216A69}" vid="{2DD1E4E3-0871-45BE-BEDE-345B55444DCB}"/>
    </a:ext>
  </a:extLst>
</a:theme>
</file>

<file path=ppt/theme/theme4.xml><?xml version="1.0" encoding="utf-8"?>
<a:theme xmlns:a="http://schemas.openxmlformats.org/drawingml/2006/main" name="5-30721_Build_2016_Template_Dark">
  <a:themeElements>
    <a:clrScheme name="Build 2016 Dark">
      <a:dk1>
        <a:srgbClr val="505050"/>
      </a:dk1>
      <a:lt1>
        <a:srgbClr val="FFFFFF"/>
      </a:lt1>
      <a:dk2>
        <a:srgbClr val="0078D7"/>
      </a:dk2>
      <a:lt2>
        <a:srgbClr val="F8F8F8"/>
      </a:lt2>
      <a:accent1>
        <a:srgbClr val="00BCF2"/>
      </a:accent1>
      <a:accent2>
        <a:srgbClr val="0078D7"/>
      </a:accent2>
      <a:accent3>
        <a:srgbClr val="002050"/>
      </a:accent3>
      <a:accent4>
        <a:srgbClr val="D2D2D2"/>
      </a:accent4>
      <a:accent5>
        <a:srgbClr val="737373"/>
      </a:accent5>
      <a:accent6>
        <a:srgbClr val="323232"/>
      </a:accent6>
      <a:hlink>
        <a:srgbClr val="5DDCFF"/>
      </a:hlink>
      <a:folHlink>
        <a:srgbClr val="5DDCFF"/>
      </a:folHlink>
    </a:clrScheme>
    <a:fontScheme name="Custom 2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Build_2016_16x9_Template.potx" id="{2D9F1654-7A66-4699-829C-201E10216A69}" vid="{EE767E89-5D4D-44CA-8070-C9EE1D87F83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PresentationsDoc" ma:contentTypeID="0x01010031DCF4CA090F824DB1E4CCBB6B9D64EA00101E8AAD132F8F4D96340D6376C8BB3E" ma:contentTypeVersion="22" ma:contentTypeDescription="" ma:contentTypeScope="" ma:versionID="8add498658ef06bbcf3bc1f2c97d938c">
  <xsd:schema xmlns:xsd="http://www.w3.org/2001/XMLSchema" xmlns:xs="http://www.w3.org/2001/XMLSchema" xmlns:p="http://schemas.microsoft.com/office/2006/metadata/properties" xmlns:ns1="http://schemas.microsoft.com/sharepoint/v3" xmlns:ns2="01c77077-aee4-4b5f-bd4e-9cd40a6fff29" xmlns:ns3="230e9df3-be65-4c73-a93b-d1236ebd677e" xmlns:ns5="8ff673fc-3231-4e3a-893b-6d7f7cd32766" targetNamespace="http://schemas.microsoft.com/office/2006/metadata/properties" ma:root="true" ma:fieldsID="a14070d067e341e7ddc7e27ecc4a2d88" ns1:_="" ns2:_="" ns3:_="" ns5:_="">
    <xsd:import namespace="http://schemas.microsoft.com/sharepoint/v3"/>
    <xsd:import namespace="01c77077-aee4-4b5f-bd4e-9cd40a6fff29"/>
    <xsd:import namespace="230e9df3-be65-4c73-a93b-d1236ebd677e"/>
    <xsd:import namespace="8ff673fc-3231-4e3a-893b-6d7f7cd32766"/>
    <xsd:element name="properties">
      <xsd:complexType>
        <xsd:sequence>
          <xsd:element name="documentManagement">
            <xsd:complexType>
              <xsd:all>
                <xsd:element ref="ns2:mb2e01f7e2d8413988e28e59aa226eec" minOccurs="0"/>
                <xsd:element ref="ns3:TaxCatchAll" minOccurs="0"/>
                <xsd:element ref="ns3:TaxCatchAllLabel" minOccurs="0"/>
                <xsd:element ref="ns2:iaa5f83406f94009a0f6a3e890699ff7" minOccurs="0"/>
                <xsd:element ref="ns2:d12e2661e9634d9aa98bbb375f31aced" minOccurs="0"/>
                <xsd:element ref="ns2:Event_x0020_Start_x0020_Date" minOccurs="0"/>
                <xsd:element ref="ns2:Event_x0020_End_x0020_Date" minOccurs="0"/>
                <xsd:element ref="ns2:Presentation_x0020_Date" minOccurs="0"/>
                <xsd:element ref="ns2:MS_x0020_Speaker" minOccurs="0"/>
                <xsd:element ref="ns2:External_x0020_Speaker" minOccurs="0"/>
                <xsd:element ref="ns2:o1010385baed4da9b5076a6aa651d1e5" minOccurs="0"/>
                <xsd:element ref="ns2:kc6d1bd9a46e4e5fbbbf99ca3de7a092" minOccurs="0"/>
                <xsd:element ref="ns2:Session_x0020_Code" minOccurs="0"/>
                <xsd:element ref="ns2:MS_x0020_Content_x0020_Owner" minOccurs="0"/>
                <xsd:element ref="ns2:m6878b9dd7994da4ba144f95347d99c6" minOccurs="0"/>
                <xsd:element ref="ns2:fc15c16204564de583b4c942b10d19ec" minOccurs="0"/>
                <xsd:element ref="ns1:AverageRating" minOccurs="0"/>
                <xsd:element ref="ns1:RatingCount" minOccurs="0"/>
                <xsd:element ref="ns1:LikesCount" minOccurs="0"/>
                <xsd:element ref="ns3:TaxKeywordTaxHTField" minOccurs="0"/>
                <xsd:element ref="ns5:Target_x0020_Audiences" minOccurs="0"/>
                <xsd:element ref="ns2:SharedWithUsers" minOccurs="0"/>
                <xsd:element ref="ns2:SharedWithDetails" minOccurs="0"/>
                <xsd:element ref="ns3:NumberofDownloa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31" nillable="true" ma:displayName="Rating (0-5)" ma:decimals="2" ma:description="Average value of all the ratings that have been submitted" ma:internalName="AverageRating" ma:readOnly="true">
      <xsd:simpleType>
        <xsd:restriction base="dms:Number"/>
      </xsd:simpleType>
    </xsd:element>
    <xsd:element name="RatingCount" ma:index="32" nillable="true" ma:displayName="Number of Ratings" ma:decimals="0" ma:description="Number of ratings submitted" ma:internalName="RatingCount" ma:readOnly="true">
      <xsd:simpleType>
        <xsd:restriction base="dms:Number"/>
      </xsd:simpleType>
    </xsd:element>
    <xsd:element name="LikesCount" ma:index="33" nillable="true" ma:displayName="Number of Likes" ma:internalName="LikesCount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c77077-aee4-4b5f-bd4e-9cd40a6fff29" elementFormDefault="qualified">
    <xsd:import namespace="http://schemas.microsoft.com/office/2006/documentManagement/types"/>
    <xsd:import namespace="http://schemas.microsoft.com/office/infopath/2007/PartnerControls"/>
    <xsd:element name="mb2e01f7e2d8413988e28e59aa226eec" ma:index="8" nillable="true" ma:taxonomy="true" ma:internalName="mb2e01f7e2d8413988e28e59aa226eec" ma:taxonomyFieldName="Event_x0020_Name" ma:displayName="Event Name" ma:default="" ma:fieldId="{6b2e01f7-e2d8-4139-88e2-8e59aa226eec}" ma:sspId="e385fb40-52d4-4fae-9c5b-3e8ff8a5878e" ma:termSetId="32cfb7b5-aebe-4989-95ed-0d5619f5d6c0" ma:anchorId="eaa4d92a-3824-4a49-92be-7ef169e4e325" ma:open="false" ma:isKeyword="false">
      <xsd:complexType>
        <xsd:sequence>
          <xsd:element ref="pc:Terms" minOccurs="0" maxOccurs="1"/>
        </xsd:sequence>
      </xsd:complexType>
    </xsd:element>
    <xsd:element name="iaa5f83406f94009a0f6a3e890699ff7" ma:index="12" nillable="true" ma:taxonomy="true" ma:internalName="iaa5f83406f94009a0f6a3e890699ff7" ma:taxonomyFieldName="Event_x0020_Location" ma:displayName="Event Location" ma:default="" ma:fieldId="{2aa5f834-06f9-4009-a0f6-a3e890699ff7}" ma:sspId="e385fb40-52d4-4fae-9c5b-3e8ff8a5878e" ma:termSetId="ff02addd-433e-4baa-a831-22be402789d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12e2661e9634d9aa98bbb375f31aced" ma:index="14" nillable="true" ma:taxonomy="true" ma:internalName="d12e2661e9634d9aa98bbb375f31aced" ma:taxonomyFieldName="Event_x0020_Venue" ma:displayName="Event Venue" ma:default="" ma:fieldId="{d12e2661-e963-4d9a-a98b-bb375f31aced}" ma:sspId="e385fb40-52d4-4fae-9c5b-3e8ff8a5878e" ma:termSetId="ff02addd-433e-4baa-a831-22be402789db" ma:anchorId="d989be80-0593-11e1-be50-0800200c9a66" ma:open="false" ma:isKeyword="false">
      <xsd:complexType>
        <xsd:sequence>
          <xsd:element ref="pc:Terms" minOccurs="0" maxOccurs="1"/>
        </xsd:sequence>
      </xsd:complexType>
    </xsd:element>
    <xsd:element name="Event_x0020_Start_x0020_Date" ma:index="16" nillable="true" ma:displayName="Event Start Date" ma:format="DateOnly" ma:internalName="Event_x0020_Start_x0020_Date">
      <xsd:simpleType>
        <xsd:restriction base="dms:DateTime"/>
      </xsd:simpleType>
    </xsd:element>
    <xsd:element name="Event_x0020_End_x0020_Date" ma:index="17" nillable="true" ma:displayName="Event End Date" ma:format="DateOnly" ma:internalName="Event_x0020_End_x0020_Date">
      <xsd:simpleType>
        <xsd:restriction base="dms:DateTime"/>
      </xsd:simpleType>
    </xsd:element>
    <xsd:element name="Presentation_x0020_Date" ma:index="18" nillable="true" ma:displayName="Presentation Date" ma:format="DateOnly" ma:internalName="Presentation_x0020_Date">
      <xsd:simpleType>
        <xsd:restriction base="dms:DateTime"/>
      </xsd:simpleType>
    </xsd:element>
    <xsd:element name="MS_x0020_Speaker" ma:index="19" nillable="true" ma:displayName="MS Speaker" ma:list="UserInfo" ma:SharePointGroup="0" ma:internalName="MS_x0020_Speaker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xternal_x0020_Speaker" ma:index="20" nillable="true" ma:displayName="External Speaker" ma:internalName="External_x0020_Speaker">
      <xsd:simpleType>
        <xsd:restriction base="dms:Text">
          <xsd:maxLength value="255"/>
        </xsd:restriction>
      </xsd:simpleType>
    </xsd:element>
    <xsd:element name="o1010385baed4da9b5076a6aa651d1e5" ma:index="21" nillable="true" ma:taxonomy="true" ma:internalName="o1010385baed4da9b5076a6aa651d1e5" ma:taxonomyFieldName="Product" ma:displayName="Product" ma:default="" ma:fieldId="{81010385-baed-4da9-b507-6a6aa651d1e5}" ma:taxonomyMulti="true" ma:sspId="e385fb40-52d4-4fae-9c5b-3e8ff8a5878e" ma:termSetId="e8298524-23d5-441d-8e61-21bed1c2c47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c6d1bd9a46e4e5fbbbf99ca3de7a092" ma:index="23" nillable="true" ma:taxonomy="true" ma:internalName="kc6d1bd9a46e4e5fbbbf99ca3de7a092" ma:taxonomyFieldName="Campaign" ma:displayName="Campaign" ma:default="" ma:fieldId="{4c6d1bd9-a46e-4e5f-bbbf-99ca3de7a092}" ma:taxonomyMulti="true" ma:sspId="e385fb40-52d4-4fae-9c5b-3e8ff8a5878e" ma:termSetId="eb6054b1-3a98-4c79-97b4-d20150dd266e" ma:anchorId="a7bf803d-fc4f-4bb4-903c-88e76437cc17" ma:open="false" ma:isKeyword="false">
      <xsd:complexType>
        <xsd:sequence>
          <xsd:element ref="pc:Terms" minOccurs="0" maxOccurs="1"/>
        </xsd:sequence>
      </xsd:complexType>
    </xsd:element>
    <xsd:element name="Session_x0020_Code" ma:index="25" nillable="true" ma:displayName="Session Code" ma:internalName="Session_x0020_Code">
      <xsd:simpleType>
        <xsd:restriction base="dms:Text">
          <xsd:maxLength value="255"/>
        </xsd:restriction>
      </xsd:simpleType>
    </xsd:element>
    <xsd:element name="MS_x0020_Content_x0020_Owner" ma:index="26" nillable="true" ma:displayName="MS Content Owner" ma:list="UserInfo" ma:SharePointGroup="0" ma:internalName="MS_x0020_Content_x0020_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6878b9dd7994da4ba144f95347d99c6" ma:index="27" nillable="true" ma:taxonomy="true" ma:internalName="m6878b9dd7994da4ba144f95347d99c6" ma:taxonomyFieldName="Track" ma:displayName="Track" ma:readOnly="false" ma:default="" ma:fieldId="{66878b9d-d799-4da4-ba14-4f95347d99c6}" ma:sspId="e385fb40-52d4-4fae-9c5b-3e8ff8a5878e" ma:termSetId="8113a965-58e2-4a85-99b9-55376be5482e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fc15c16204564de583b4c942b10d19ec" ma:index="29" nillable="true" ma:taxonomy="true" ma:internalName="fc15c16204564de583b4c942b10d19ec" ma:taxonomyFieldName="Audience1" ma:displayName="Audience" ma:default="" ma:fieldId="{fc15c162-0456-4de5-83b4-c942b10d19ec}" ma:taxonomyMulti="true" ma:sspId="e385fb40-52d4-4fae-9c5b-3e8ff8a5878e" ma:termSetId="02c0b350-7782-44ed-b079-a5ef0c1b9fe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aredWithUsers" ma:index="3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description="" ma:hidden="true" ma:list="{0d8ba32e-6f24-4e39-985b-e3fd5ec6bdb7}" ma:internalName="TaxCatchAll" ma:showField="CatchAllData" ma:web="01c77077-aee4-4b5f-bd4e-9cd40a6fff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description="" ma:hidden="true" ma:list="{0d8ba32e-6f24-4e39-985b-e3fd5ec6bdb7}" ma:internalName="TaxCatchAllLabel" ma:readOnly="true" ma:showField="CatchAllDataLabel" ma:web="01c77077-aee4-4b5f-bd4e-9cd40a6fff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KeywordTaxHTField" ma:index="35" nillable="true" ma:taxonomy="true" ma:internalName="TaxKeywordTaxHTField" ma:taxonomyFieldName="TaxKeyword" ma:displayName="Enterprise Keywords" ma:fieldId="{23f27201-bee3-471e-b2e7-b64fd8b7ca38}" ma:taxonomyMulti="true" ma:sspId="e385fb40-52d4-4fae-9c5b-3e8ff8a5878e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NumberofDownloads" ma:index="40" nillable="true" ma:displayName="NumberofDownloads" ma:internalName="NumberofDownload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f673fc-3231-4e3a-893b-6d7f7cd32766" elementFormDefault="qualified">
    <xsd:import namespace="http://schemas.microsoft.com/office/2006/documentManagement/types"/>
    <xsd:import namespace="http://schemas.microsoft.com/office/infopath/2007/PartnerControls"/>
    <xsd:element name="Target_x0020_Audiences" ma:index="37" nillable="true" ma:displayName="Target Audiences" ma:internalName="Target_x0020_Audiences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34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ikesCount xmlns="http://schemas.microsoft.com/sharepoint/v3" xsi:nil="true"/>
    <d12e2661e9634d9aa98bbb375f31aced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Georgia World Congress Center</TermName>
          <TermId xmlns="http://schemas.microsoft.com/office/infopath/2007/PartnerControls">ea0ece34-59a6-4d43-8d9e-d0f9e2a2f1ce</TermId>
        </TermInfo>
      </Terms>
    </d12e2661e9634d9aa98bbb375f31aced>
    <Event_x0020_Start_x0020_Date xmlns="01c77077-aee4-4b5f-bd4e-9cd40a6fff29">2016-09-25T07:00:00+00:00</Event_x0020_Start_x0020_Date>
    <Target_x0020_Audiences xmlns="8ff673fc-3231-4e3a-893b-6d7f7cd32766" xsi:nil="true"/>
    <iaa5f83406f94009a0f6a3e890699ff7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Atlanta</TermName>
          <TermId xmlns="http://schemas.microsoft.com/office/infopath/2007/PartnerControls">01fb9831-5840-48a0-a576-3e48f42baa53</TermId>
        </TermInfo>
      </Terms>
    </iaa5f83406f94009a0f6a3e890699ff7>
    <External_x0020_Speaker xmlns="01c77077-aee4-4b5f-bd4e-9cd40a6fff29">Michael Kelley</External_x0020_Speaker>
    <m6878b9dd7994da4ba144f95347d99c6 xmlns="01c77077-aee4-4b5f-bd4e-9cd40a6fff29">
      <Terms xmlns="http://schemas.microsoft.com/office/infopath/2007/PartnerControls"/>
    </m6878b9dd7994da4ba144f95347d99c6>
    <Presentation_x0020_Date xmlns="01c77077-aee4-4b5f-bd4e-9cd40a6fff29">2016-09-28T04:00:00+00:00</Presentation_x0020_Date>
    <fc15c16204564de583b4c942b10d19ec xmlns="01c77077-aee4-4b5f-bd4e-9cd40a6fff29">
      <Terms xmlns="http://schemas.microsoft.com/office/infopath/2007/PartnerControls"/>
    </fc15c16204564de583b4c942b10d19ec>
    <mb2e01f7e2d8413988e28e59aa226eec xmlns="01c77077-aee4-4b5f-bd4e-9cd40a6fff29">
      <Terms xmlns="http://schemas.microsoft.com/office/infopath/2007/PartnerControls">
        <TermInfo xmlns="http://schemas.microsoft.com/office/infopath/2007/PartnerControls">
          <TermName xmlns="http://schemas.microsoft.com/office/infopath/2007/PartnerControls">Microsoft Ignite</TermName>
          <TermId xmlns="http://schemas.microsoft.com/office/infopath/2007/PartnerControls">9323c522-fe4b-4922-816b-10a1920d7afb</TermId>
        </TermInfo>
      </Terms>
    </mb2e01f7e2d8413988e28e59aa226eec>
    <MS_x0020_Content_x0020_Owner xmlns="01c77077-aee4-4b5f-bd4e-9cd40a6fff29">
      <UserInfo>
        <DisplayName/>
        <AccountId xsi:nil="true"/>
        <AccountType/>
      </UserInfo>
    </MS_x0020_Content_x0020_Owner>
    <Session_x0020_Code xmlns="01c77077-aee4-4b5f-bd4e-9cd40a6fff29">BRK2158</Session_x0020_Code>
    <Event_x0020_End_x0020_Date xmlns="01c77077-aee4-4b5f-bd4e-9cd40a6fff29">2016-09-30T07:00:00+00:00</Event_x0020_End_x0020_Date>
    <o1010385baed4da9b5076a6aa651d1e5 xmlns="01c77077-aee4-4b5f-bd4e-9cd40a6fff29">
      <Terms xmlns="http://schemas.microsoft.com/office/infopath/2007/PartnerControls"/>
    </o1010385baed4da9b5076a6aa651d1e5>
    <kc6d1bd9a46e4e5fbbbf99ca3de7a092 xmlns="01c77077-aee4-4b5f-bd4e-9cd40a6fff29">
      <Terms xmlns="http://schemas.microsoft.com/office/infopath/2007/PartnerControls"/>
    </kc6d1bd9a46e4e5fbbbf99ca3de7a092>
    <MS_x0020_Speaker xmlns="01c77077-aee4-4b5f-bd4e-9cd40a6fff29">
      <UserInfo>
        <DisplayName/>
        <AccountId xsi:nil="true"/>
        <AccountType/>
      </UserInfo>
    </MS_x0020_Speaker>
    <TaxKeywordTaxHTField xmlns="230e9df3-be65-4c73-a93b-d1236ebd677e">
      <Terms xmlns="http://schemas.microsoft.com/office/infopath/2007/PartnerControls">
        <TermInfo xmlns="http://schemas.microsoft.com/office/infopath/2007/PartnerControls">
          <TermName xmlns="http://schemas.microsoft.com/office/infopath/2007/PartnerControls">Microsoft Ignite 2016</TermName>
          <TermId xmlns="http://schemas.microsoft.com/office/infopath/2007/PartnerControls">e2f6a88c-86f9-4b25-a2af-b5c3afa8c82a</TermId>
        </TermInfo>
      </Terms>
    </TaxKeywordTaxHTField>
    <TaxCatchAll xmlns="230e9df3-be65-4c73-a93b-d1236ebd677e">
      <Value>174</Value>
      <Value>177</Value>
      <Value>176</Value>
      <Value>175</Value>
    </TaxCatchAll>
    <NumberofDownloads xmlns="230e9df3-be65-4c73-a93b-d1236ebd677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D8F288A-5131-4E80-AB86-F10FC03738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1c77077-aee4-4b5f-bd4e-9cd40a6fff29"/>
    <ds:schemaRef ds:uri="230e9df3-be65-4c73-a93b-d1236ebd677e"/>
    <ds:schemaRef ds:uri="8ff673fc-3231-4e3a-893b-6d7f7cd327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990F116-B58F-4255-B05B-DA3808E0E5C6}">
  <ds:schemaRefs>
    <ds:schemaRef ds:uri="http://purl.org/dc/elements/1.1/"/>
    <ds:schemaRef ds:uri="http://purl.org/dc/dcmitype/"/>
    <ds:schemaRef ds:uri="230e9df3-be65-4c73-a93b-d1236ebd677e"/>
    <ds:schemaRef ds:uri="http://schemas.microsoft.com/office/infopath/2007/PartnerControls"/>
    <ds:schemaRef ds:uri="http://schemas.microsoft.com/office/2006/metadata/properties"/>
    <ds:schemaRef ds:uri="01c77077-aee4-4b5f-bd4e-9cd40a6fff29"/>
    <ds:schemaRef ds:uri="http://schemas.microsoft.com/sharepoint/v3"/>
    <ds:schemaRef ds:uri="8ff673fc-3231-4e3a-893b-6d7f7cd32766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Microsoft_Ignite_2016_16x9_Template</Template>
  <TotalTime>2004</TotalTime>
  <Words>1131</Words>
  <Application>Microsoft Office PowerPoint</Application>
  <PresentationFormat>Personalizar</PresentationFormat>
  <Paragraphs>160</Paragraphs>
  <Slides>20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20</vt:i4>
      </vt:variant>
    </vt:vector>
  </HeadingPairs>
  <TitlesOfParts>
    <vt:vector size="29" baseType="lpstr">
      <vt:lpstr>Arial</vt:lpstr>
      <vt:lpstr>Consolas</vt:lpstr>
      <vt:lpstr>Segoe UI</vt:lpstr>
      <vt:lpstr>Segoe UI Light</vt:lpstr>
      <vt:lpstr>Wingdings</vt:lpstr>
      <vt:lpstr>5-50002_Ignite_Breakout_Template</vt:lpstr>
      <vt:lpstr>1_5-50002_Ignite_Breakout_Template</vt:lpstr>
      <vt:lpstr>5-30721_Build_2016_Template_Light</vt:lpstr>
      <vt:lpstr>5-30721_Build_2016_Template_Dark</vt:lpstr>
      <vt:lpstr>Descomplicando o uso de múltiplas IAs com Dapr e AI Gateways</vt:lpstr>
      <vt:lpstr>Renato Groffe</vt:lpstr>
      <vt:lpstr>Conteúdos desta apresentação</vt:lpstr>
      <vt:lpstr>Agenda</vt:lpstr>
      <vt:lpstr>Problemas comuns no uso de IAs hoje</vt:lpstr>
      <vt:lpstr>Alternativas para solucionar isto...</vt:lpstr>
      <vt:lpstr>O projeto Dapr: uma visão geral</vt:lpstr>
      <vt:lpstr>O projeto Dapr: uma visão geral</vt:lpstr>
      <vt:lpstr>O projeto Dapr: uma visão geral</vt:lpstr>
      <vt:lpstr>O projeto Dapr: Building blocks</vt:lpstr>
      <vt:lpstr>O projeto Dapr: Conversation (IAs Generativas)</vt:lpstr>
      <vt:lpstr>O projeto Dapr: benefícios</vt:lpstr>
      <vt:lpstr>O projeto Dapr: benefícios</vt:lpstr>
      <vt:lpstr>O que é um AI Gateway?</vt:lpstr>
      <vt:lpstr>Por que utilizar um AI Gateway?</vt:lpstr>
      <vt:lpstr>AI Gateways: algumas alternativas</vt:lpstr>
      <vt:lpstr>Apresentação do PowerPoint</vt:lpstr>
      <vt:lpstr>Apresentação do PowerPoint</vt:lpstr>
      <vt:lpstr>EXEMPLOS PRÁTICOS</vt:lpstr>
      <vt:lpstr>OBRIGADO!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 why Microsoft loves Linux and Open Source</dc:title>
  <dc:subject>&lt;Speech title here&gt;</dc:subject>
  <dc:creator>Michael Kelley (OSTC)</dc:creator>
  <cp:keywords>Microsoft Ignite 2016</cp:keywords>
  <dc:description>Template: Mitchell Derrey, Silverfox Productions_x000d_
Formatting: _x000d_
Audience Type:</dc:description>
  <cp:lastModifiedBy>Renato Groffe</cp:lastModifiedBy>
  <cp:revision>528</cp:revision>
  <dcterms:created xsi:type="dcterms:W3CDTF">2016-08-05T22:03:34Z</dcterms:created>
  <dcterms:modified xsi:type="dcterms:W3CDTF">2026-10-24T05:45:37Z</dcterms:modified>
  <cp:category>Microsoft Ignite 2016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0x01010031DCF4CA090F824DB1E4CCBB6B9D64EA00101E8AAD132F8F4D96340D6376C8BB3E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>177;#Georgia World Congress Center|ea0ece34-59a6-4d43-8d9e-d0f9e2a2f1ce</vt:lpwstr>
  </property>
  <property fmtid="{D5CDD505-2E9C-101B-9397-08002B2CF9AE}" pid="7" name="Track">
    <vt:lpwstr/>
  </property>
  <property fmtid="{D5CDD505-2E9C-101B-9397-08002B2CF9AE}" pid="8" name="Event Location">
    <vt:lpwstr>176;#Atlanta|01fb9831-5840-48a0-a576-3e48f42baa53</vt:lpwstr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TaxKeyword">
    <vt:lpwstr>174;#Microsoft Ignite 2016|e2f6a88c-86f9-4b25-a2af-b5c3afa8c82a</vt:lpwstr>
  </property>
  <property fmtid="{D5CDD505-2E9C-101B-9397-08002B2CF9AE}" pid="12" name="Audience1">
    <vt:lpwstr/>
  </property>
  <property fmtid="{D5CDD505-2E9C-101B-9397-08002B2CF9AE}" pid="13" name="Event Name">
    <vt:lpwstr>175;#Microsoft Ignite|9323c522-fe4b-4922-816b-10a1920d7afb</vt:lpwstr>
  </property>
</Properties>
</file>